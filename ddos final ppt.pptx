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9" r:id="rId1"/>
  </p:sldMasterIdLst>
  <p:notesMasterIdLst>
    <p:notesMasterId r:id="rId24"/>
  </p:notesMasterIdLst>
  <p:sldIdLst>
    <p:sldId id="256" r:id="rId2"/>
    <p:sldId id="340" r:id="rId3"/>
    <p:sldId id="341" r:id="rId4"/>
    <p:sldId id="300" r:id="rId5"/>
    <p:sldId id="301" r:id="rId6"/>
    <p:sldId id="303" r:id="rId7"/>
    <p:sldId id="333" r:id="rId8"/>
    <p:sldId id="305" r:id="rId9"/>
    <p:sldId id="337" r:id="rId10"/>
    <p:sldId id="307" r:id="rId11"/>
    <p:sldId id="344" r:id="rId12"/>
    <p:sldId id="346" r:id="rId13"/>
    <p:sldId id="351" r:id="rId14"/>
    <p:sldId id="314" r:id="rId15"/>
    <p:sldId id="309" r:id="rId16"/>
    <p:sldId id="350" r:id="rId17"/>
    <p:sldId id="352" r:id="rId18"/>
    <p:sldId id="353" r:id="rId19"/>
    <p:sldId id="354" r:id="rId20"/>
    <p:sldId id="355" r:id="rId21"/>
    <p:sldId id="356" r:id="rId22"/>
    <p:sldId id="336" r:id="rId23"/>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FF00FF"/>
    <a:srgbClr val="0000FF"/>
    <a:srgbClr val="D741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6A4782-BEEA-4C0D-930D-67D52EA63570}" v="91" dt="2025-02-06T00:27:03.4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showGuides="1">
      <p:cViewPr varScale="1">
        <p:scale>
          <a:sx n="59" d="100"/>
          <a:sy n="59" d="100"/>
        </p:scale>
        <p:origin x="1464"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F81D84E-59F5-4F3B-B726-8C90784148DA}" type="datetimeFigureOut">
              <a:rPr lang="en-IN" smtClean="0"/>
              <a:t>07-02-2025</a:t>
            </a:fld>
            <a:endParaRPr lang="en-IN"/>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B33A2773-C704-4CA1-AB9C-8B8A755A0707}"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3A2773-C704-4CA1-AB9C-8B8A755A0707}" type="slidenum">
              <a:rPr lang="en-IN" smtClean="0"/>
              <a:t>20</a:t>
            </a:fld>
            <a:endParaRPr lang="en-IN"/>
          </a:p>
        </p:txBody>
      </p:sp>
    </p:spTree>
    <p:extLst>
      <p:ext uri="{BB962C8B-B14F-4D97-AF65-F5344CB8AC3E}">
        <p14:creationId xmlns:p14="http://schemas.microsoft.com/office/powerpoint/2010/main" val="2641350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E9E175-CC05-456D-B405-E9F0DB3ED16E}"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359316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CFCEAC-643B-41D5-98E7-B7C6110C3E84}"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494915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8181EB-3448-4C57-9E87-FF1450434419}"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401339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9358CC-47A9-47D8-B038-7E829FE682A3}" type="datetime1">
              <a:rPr lang="en-US" smtClean="0"/>
              <a:t>2/7/2025</a:t>
            </a:fld>
            <a:endParaRPr lang="en-US" dirty="0"/>
          </a:p>
        </p:txBody>
      </p:sp>
      <p:sp>
        <p:nvSpPr>
          <p:cNvPr id="6" name="Footer Placeholder 5"/>
          <p:cNvSpPr>
            <a:spLocks noGrp="1"/>
          </p:cNvSpPr>
          <p:nvPr>
            <p:ph type="ftr" sz="quarter" idx="11"/>
          </p:nvPr>
        </p:nvSpPr>
        <p:spPr/>
        <p:txBody>
          <a:bodyPr/>
          <a:lstStyle/>
          <a:p>
            <a:r>
              <a:rPr lang="en-IN"/>
              <a:t>Dept. of ISE, RRCE                                                                                                                                                     2019-20</a:t>
            </a:r>
            <a:endParaRPr lang="en-US" dirty="0"/>
          </a:p>
        </p:txBody>
      </p:sp>
      <p:sp>
        <p:nvSpPr>
          <p:cNvPr id="7" name="Slide Number Placeholder 6"/>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249202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82B5F7-7B25-4F17-8FE0-D3E3F883A3A2}" type="datetime1">
              <a:rPr lang="en-US" smtClean="0"/>
              <a:t>2/7/2025</a:t>
            </a:fld>
            <a:endParaRPr lang="en-US" dirty="0"/>
          </a:p>
        </p:txBody>
      </p:sp>
      <p:sp>
        <p:nvSpPr>
          <p:cNvPr id="8" name="Footer Placeholder 7"/>
          <p:cNvSpPr>
            <a:spLocks noGrp="1"/>
          </p:cNvSpPr>
          <p:nvPr>
            <p:ph type="ftr" sz="quarter" idx="11"/>
          </p:nvPr>
        </p:nvSpPr>
        <p:spPr/>
        <p:txBody>
          <a:bodyPr/>
          <a:lstStyle/>
          <a:p>
            <a:r>
              <a:rPr lang="en-IN"/>
              <a:t>Dept. of ISE, RRCE                                                                                                                                                     2019-20</a:t>
            </a:r>
            <a:endParaRPr lang="en-US" dirty="0"/>
          </a:p>
        </p:txBody>
      </p:sp>
      <p:sp>
        <p:nvSpPr>
          <p:cNvPr id="9" name="Slide Number Placeholder 8"/>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582195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A4768A-A6F0-4CE1-B146-93241DD26BFE}" type="datetime1">
              <a:rPr lang="en-US" smtClean="0"/>
              <a:t>2/7/2025</a:t>
            </a:fld>
            <a:endParaRPr lang="en-US" dirty="0"/>
          </a:p>
        </p:txBody>
      </p:sp>
      <p:sp>
        <p:nvSpPr>
          <p:cNvPr id="4" name="Footer Placeholder 3"/>
          <p:cNvSpPr>
            <a:spLocks noGrp="1"/>
          </p:cNvSpPr>
          <p:nvPr>
            <p:ph type="ftr" sz="quarter" idx="11"/>
          </p:nvPr>
        </p:nvSpPr>
        <p:spPr/>
        <p:txBody>
          <a:bodyPr/>
          <a:lstStyle/>
          <a:p>
            <a:r>
              <a:rPr lang="en-IN"/>
              <a:t>Dept. of ISE, RRCE                                                                                                                                                     2019-20</a:t>
            </a:r>
            <a:endParaRPr lang="en-US" dirty="0"/>
          </a:p>
        </p:txBody>
      </p:sp>
      <p:sp>
        <p:nvSpPr>
          <p:cNvPr id="5" name="Slide Number Placeholder 4"/>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949856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BC37E0-A60C-43D0-9638-5E69BE95F867}" type="datetime1">
              <a:rPr lang="en-US" smtClean="0"/>
              <a:t>2/7/2025</a:t>
            </a:fld>
            <a:endParaRPr lang="en-US" dirty="0"/>
          </a:p>
        </p:txBody>
      </p:sp>
      <p:sp>
        <p:nvSpPr>
          <p:cNvPr id="3" name="Footer Placeholder 2"/>
          <p:cNvSpPr>
            <a:spLocks noGrp="1"/>
          </p:cNvSpPr>
          <p:nvPr>
            <p:ph type="ftr" sz="quarter" idx="11"/>
          </p:nvPr>
        </p:nvSpPr>
        <p:spPr/>
        <p:txBody>
          <a:bodyPr/>
          <a:lstStyle/>
          <a:p>
            <a:r>
              <a:rPr lang="en-IN"/>
              <a:t>Dept. of ISE, RRCE                                                                                                                                                     2019-20</a:t>
            </a:r>
            <a:endParaRPr lang="en-US" dirty="0"/>
          </a:p>
        </p:txBody>
      </p:sp>
      <p:sp>
        <p:nvSpPr>
          <p:cNvPr id="4" name="Slide Number Placeholder 3"/>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03231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776B714-C88B-43AE-8295-E5E3DC5F6221}" type="datetime1">
              <a:rPr lang="en-US" smtClean="0"/>
              <a:t>2/7/2025</a:t>
            </a:fld>
            <a:endParaRPr lang="en-US" dirty="0"/>
          </a:p>
        </p:txBody>
      </p:sp>
      <p:sp>
        <p:nvSpPr>
          <p:cNvPr id="6" name="Footer Placeholder 5"/>
          <p:cNvSpPr>
            <a:spLocks noGrp="1"/>
          </p:cNvSpPr>
          <p:nvPr>
            <p:ph type="ftr" sz="quarter" idx="11"/>
          </p:nvPr>
        </p:nvSpPr>
        <p:spPr/>
        <p:txBody>
          <a:bodyPr/>
          <a:lstStyle/>
          <a:p>
            <a:r>
              <a:rPr lang="en-IN"/>
              <a:t>Dept. of ISE, RRCE                                                                                                                                                     2019-20</a:t>
            </a:r>
            <a:endParaRPr lang="en-US" dirty="0"/>
          </a:p>
        </p:txBody>
      </p:sp>
      <p:sp>
        <p:nvSpPr>
          <p:cNvPr id="7" name="Slide Number Placeholder 6"/>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51421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6B2C8-524B-45F2-A613-2583D798369F}" type="datetime1">
              <a:rPr lang="en-US" smtClean="0"/>
              <a:t>2/7/2025</a:t>
            </a:fld>
            <a:endParaRPr lang="en-US" dirty="0"/>
          </a:p>
        </p:txBody>
      </p:sp>
      <p:sp>
        <p:nvSpPr>
          <p:cNvPr id="6" name="Footer Placeholder 5"/>
          <p:cNvSpPr>
            <a:spLocks noGrp="1"/>
          </p:cNvSpPr>
          <p:nvPr>
            <p:ph type="ftr" sz="quarter" idx="11"/>
          </p:nvPr>
        </p:nvSpPr>
        <p:spPr/>
        <p:txBody>
          <a:bodyPr/>
          <a:lstStyle/>
          <a:p>
            <a:r>
              <a:rPr lang="en-IN"/>
              <a:t>Dept. of ISE, RRCE                                                                                                                                                     2019-20</a:t>
            </a:r>
            <a:endParaRPr lang="en-US" dirty="0"/>
          </a:p>
        </p:txBody>
      </p:sp>
      <p:sp>
        <p:nvSpPr>
          <p:cNvPr id="7" name="Slide Number Placeholder 6"/>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8262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DA32E-CBF2-457D-A8CA-6F2280F41B8A}"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251945117"/>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DA32E-CBF2-457D-A8CA-6F2280F41B8A}"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35571273"/>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DA32E-CBF2-457D-A8CA-6F2280F41B8A}"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825472494"/>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DA32E-CBF2-457D-A8CA-6F2280F41B8A}"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18517680"/>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DA32E-CBF2-457D-A8CA-6F2280F41B8A}"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892311944"/>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7F174A-832B-448A-9DC9-5DA03248EAA4}"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313586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EEBA10-C804-4E59-B23D-28FEEF733836}" type="datetime1">
              <a:rPr lang="en-US" smtClean="0"/>
              <a:t>2/7/2025</a:t>
            </a:fld>
            <a:endParaRPr lang="en-US" dirty="0"/>
          </a:p>
        </p:txBody>
      </p:sp>
      <p:sp>
        <p:nvSpPr>
          <p:cNvPr id="5" name="Footer Placeholder 4"/>
          <p:cNvSpPr>
            <a:spLocks noGrp="1"/>
          </p:cNvSpPr>
          <p:nvPr>
            <p:ph type="ftr" sz="quarter" idx="11"/>
          </p:nvPr>
        </p:nvSpPr>
        <p:spPr/>
        <p:txBody>
          <a:bodyPr/>
          <a:lstStyle/>
          <a:p>
            <a:r>
              <a:rPr lang="en-IN"/>
              <a:t>Dept. of ISE, RRCE                                                                                                                                                     2019-20</a:t>
            </a:r>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534364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1EDA32E-CBF2-457D-A8CA-6F2280F41B8A}" type="datetime1">
              <a:rPr lang="en-US" smtClean="0"/>
              <a:t>2/7/2025</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Dept. of ISE, RRCE                                                                                                                                                     2019-20</a:t>
            </a:r>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2AC27A5A-7290-4DE1-BA94-4BE8A8E57DCF}" type="slidenum">
              <a:rPr lang="en-US" smtClean="0"/>
              <a:t>‹#›</a:t>
            </a:fld>
            <a:endParaRPr lang="en-US" dirty="0"/>
          </a:p>
        </p:txBody>
      </p:sp>
    </p:spTree>
    <p:extLst>
      <p:ext uri="{BB962C8B-B14F-4D97-AF65-F5344CB8AC3E}">
        <p14:creationId xmlns:p14="http://schemas.microsoft.com/office/powerpoint/2010/main" val="254197268"/>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884" y="371335"/>
            <a:ext cx="6347714" cy="596348"/>
          </a:xfrm>
        </p:spPr>
        <p:txBody>
          <a:bodyPr>
            <a:noAutofit/>
          </a:bodyPr>
          <a:lstStyle/>
          <a:p>
            <a:pPr algn="ctr"/>
            <a:r>
              <a:rPr lang="en-IN" sz="1800" b="1" dirty="0">
                <a:solidFill>
                  <a:srgbClr val="FF0000"/>
                </a:solidFill>
                <a:latin typeface="Times New Roman" panose="02020603050405020304" pitchFamily="18" charset="0"/>
                <a:cs typeface="Times New Roman" panose="02020603050405020304" pitchFamily="18" charset="0"/>
              </a:rPr>
              <a:t>VISVESVARAYA TECHNOLOGICAL UNIVERSITY</a:t>
            </a:r>
            <a:br>
              <a:rPr lang="en-IN" sz="1800" b="1" dirty="0">
                <a:solidFill>
                  <a:srgbClr val="FF0000"/>
                </a:solidFill>
                <a:latin typeface="Times New Roman" panose="02020603050405020304" pitchFamily="18" charset="0"/>
                <a:cs typeface="Times New Roman" panose="02020603050405020304" pitchFamily="18" charset="0"/>
              </a:rPr>
            </a:br>
            <a:r>
              <a:rPr lang="en-IN" sz="1800" b="1" dirty="0">
                <a:solidFill>
                  <a:srgbClr val="0000FF"/>
                </a:solidFill>
                <a:latin typeface="Times New Roman" panose="02020603050405020304" pitchFamily="18" charset="0"/>
                <a:cs typeface="Times New Roman" panose="02020603050405020304" pitchFamily="18" charset="0"/>
              </a:rPr>
              <a:t>“Jnana Sangama”, Belagavi-590018</a:t>
            </a:r>
          </a:p>
        </p:txBody>
      </p:sp>
      <p:sp>
        <p:nvSpPr>
          <p:cNvPr id="3" name="Content Placeholder 2"/>
          <p:cNvSpPr>
            <a:spLocks noGrp="1"/>
          </p:cNvSpPr>
          <p:nvPr>
            <p:ph idx="1"/>
          </p:nvPr>
        </p:nvSpPr>
        <p:spPr>
          <a:xfrm>
            <a:off x="90636" y="1001086"/>
            <a:ext cx="8538210" cy="5856914"/>
          </a:xfrm>
        </p:spPr>
        <p:txBody>
          <a:bodyPr>
            <a:normAutofit/>
          </a:bodyPr>
          <a:lstStyle/>
          <a:p>
            <a:pPr marL="0" indent="0" algn="ctr">
              <a:spcBef>
                <a:spcPts val="300"/>
              </a:spcBef>
              <a:buNone/>
            </a:pPr>
            <a:r>
              <a:rPr lang="en-IN" b="1" dirty="0">
                <a:solidFill>
                  <a:schemeClr val="accent2">
                    <a:lumMod val="75000"/>
                  </a:schemeClr>
                </a:solidFill>
                <a:latin typeface="Times New Roman" panose="02020603050405020304" pitchFamily="18" charset="0"/>
                <a:cs typeface="Times New Roman" panose="02020603050405020304" pitchFamily="18" charset="0"/>
              </a:rPr>
              <a:t> PROJECT WORK Phase </a:t>
            </a:r>
            <a:r>
              <a:rPr lang="en-IN" b="1">
                <a:solidFill>
                  <a:schemeClr val="accent2">
                    <a:lumMod val="75000"/>
                  </a:schemeClr>
                </a:solidFill>
                <a:latin typeface="Times New Roman" panose="02020603050405020304" pitchFamily="18" charset="0"/>
                <a:cs typeface="Times New Roman" panose="02020603050405020304" pitchFamily="18" charset="0"/>
              </a:rPr>
              <a:t>– II</a:t>
            </a:r>
          </a:p>
          <a:p>
            <a:pPr marL="0" indent="0" algn="ctr">
              <a:spcBef>
                <a:spcPts val="300"/>
              </a:spcBef>
              <a:buNone/>
            </a:pPr>
            <a:r>
              <a:rPr lang="en-IN" b="1">
                <a:solidFill>
                  <a:srgbClr val="FF00FF"/>
                </a:solidFill>
                <a:latin typeface="Times New Roman" panose="02020603050405020304" pitchFamily="18" charset="0"/>
                <a:cs typeface="Times New Roman" panose="02020603050405020304" pitchFamily="18" charset="0"/>
              </a:rPr>
              <a:t> </a:t>
            </a:r>
            <a:r>
              <a:rPr lang="en-IN" b="1" dirty="0">
                <a:solidFill>
                  <a:srgbClr val="FF00FF"/>
                </a:solidFill>
                <a:latin typeface="Times New Roman" panose="02020603050405020304" pitchFamily="18" charset="0"/>
                <a:cs typeface="Times New Roman" panose="02020603050405020304" pitchFamily="18" charset="0"/>
              </a:rPr>
              <a:t>REVIEW </a:t>
            </a:r>
          </a:p>
          <a:p>
            <a:pPr marL="0" indent="0" algn="ctr">
              <a:lnSpc>
                <a:spcPct val="120000"/>
              </a:lnSpc>
              <a:spcBef>
                <a:spcPts val="300"/>
              </a:spcBef>
              <a:buNone/>
            </a:pPr>
            <a:r>
              <a:rPr lang="en-IN" sz="1900" b="1">
                <a:solidFill>
                  <a:srgbClr val="0000FF"/>
                </a:solidFill>
                <a:latin typeface="Times New Roman" panose="02020603050405020304" pitchFamily="18" charset="0"/>
                <a:cs typeface="Times New Roman" panose="02020603050405020304" pitchFamily="18" charset="0"/>
              </a:rPr>
              <a:t>“</a:t>
            </a:r>
            <a:r>
              <a:rPr lang="en-IN" sz="1700" b="1">
                <a:solidFill>
                  <a:srgbClr val="0000FF"/>
                </a:solidFill>
                <a:latin typeface="Times New Roman" panose="02020603050405020304" pitchFamily="18" charset="0"/>
                <a:cs typeface="Times New Roman" panose="02020603050405020304" pitchFamily="18" charset="0"/>
              </a:rPr>
              <a:t>IDENTIFYING APPLICATION-LAYER DDoS ATTACKS USING MACHINE LEARNING</a:t>
            </a:r>
            <a:r>
              <a:rPr lang="en-IN" sz="1900" b="1">
                <a:solidFill>
                  <a:srgbClr val="0000FF"/>
                </a:solidFill>
                <a:latin typeface="Times New Roman" panose="02020603050405020304" pitchFamily="18" charset="0"/>
                <a:cs typeface="Times New Roman" panose="02020603050405020304" pitchFamily="18" charset="0"/>
              </a:rPr>
              <a:t>”</a:t>
            </a:r>
            <a:endParaRPr lang="en-IN" sz="1900" b="1" dirty="0">
              <a:solidFill>
                <a:srgbClr val="0000FF"/>
              </a:solidFill>
              <a:latin typeface="Times New Roman" panose="02020603050405020304" pitchFamily="18" charset="0"/>
              <a:cs typeface="Times New Roman" panose="02020603050405020304" pitchFamily="18" charset="0"/>
            </a:endParaRPr>
          </a:p>
          <a:p>
            <a:pPr marL="0" indent="0" algn="ctr">
              <a:spcBef>
                <a:spcPts val="300"/>
              </a:spcBef>
              <a:buNone/>
            </a:pPr>
            <a:endParaRPr lang="en-IN" sz="1200" b="1">
              <a:solidFill>
                <a:schemeClr val="tx1"/>
              </a:solidFill>
              <a:latin typeface="Times New Roman" panose="02020603050405020304" pitchFamily="18" charset="0"/>
              <a:cs typeface="Times New Roman" panose="02020603050405020304" pitchFamily="18" charset="0"/>
            </a:endParaRPr>
          </a:p>
          <a:p>
            <a:pPr marL="0" indent="0" algn="ctr">
              <a:spcBef>
                <a:spcPts val="300"/>
              </a:spcBef>
              <a:buNone/>
            </a:pPr>
            <a:r>
              <a:rPr lang="en-IN" sz="1200" b="1">
                <a:solidFill>
                  <a:schemeClr val="tx1"/>
                </a:solidFill>
                <a:latin typeface="Times New Roman" panose="02020603050405020304" pitchFamily="18" charset="0"/>
                <a:cs typeface="Times New Roman" panose="02020603050405020304" pitchFamily="18" charset="0"/>
              </a:rPr>
              <a:t>PRESENTED </a:t>
            </a:r>
            <a:r>
              <a:rPr lang="en-IN" sz="1200" b="1" dirty="0">
                <a:solidFill>
                  <a:schemeClr val="tx1"/>
                </a:solidFill>
                <a:latin typeface="Times New Roman" panose="02020603050405020304" pitchFamily="18" charset="0"/>
                <a:cs typeface="Times New Roman" panose="02020603050405020304" pitchFamily="18" charset="0"/>
              </a:rPr>
              <a:t>BY</a:t>
            </a:r>
          </a:p>
          <a:p>
            <a:pPr marL="0" indent="0" algn="ctr">
              <a:spcBef>
                <a:spcPts val="300"/>
              </a:spcBef>
              <a:buNone/>
            </a:pPr>
            <a:r>
              <a:rPr lang="en-IN" sz="1400" b="1">
                <a:solidFill>
                  <a:srgbClr val="002060"/>
                </a:solidFill>
                <a:latin typeface="Times New Roman" panose="02020603050405020304" pitchFamily="18" charset="0"/>
                <a:cs typeface="Times New Roman" panose="02020603050405020304" pitchFamily="18" charset="0"/>
              </a:rPr>
              <a:t>Mahendra Y S[1RR21IS028]</a:t>
            </a:r>
          </a:p>
          <a:p>
            <a:pPr marL="0" indent="0" algn="ctr">
              <a:spcBef>
                <a:spcPts val="300"/>
              </a:spcBef>
              <a:buNone/>
            </a:pPr>
            <a:r>
              <a:rPr lang="en-IN" sz="1400" b="1">
                <a:solidFill>
                  <a:srgbClr val="002060"/>
                </a:solidFill>
                <a:latin typeface="Times New Roman" panose="02020603050405020304" pitchFamily="18" charset="0"/>
                <a:cs typeface="Times New Roman" panose="02020603050405020304" pitchFamily="18" charset="0"/>
              </a:rPr>
              <a:t>Vishwas J [1RR21IS061]</a:t>
            </a:r>
          </a:p>
          <a:p>
            <a:pPr marL="0" indent="0" algn="ctr">
              <a:spcBef>
                <a:spcPts val="300"/>
              </a:spcBef>
              <a:buNone/>
            </a:pPr>
            <a:r>
              <a:rPr lang="en-IN" sz="1400" b="1">
                <a:solidFill>
                  <a:srgbClr val="002060"/>
                </a:solidFill>
                <a:latin typeface="Times New Roman" panose="02020603050405020304" pitchFamily="18" charset="0"/>
                <a:cs typeface="Times New Roman" panose="02020603050405020304" pitchFamily="18" charset="0"/>
              </a:rPr>
              <a:t>Sudeep P[1RR21IS055]</a:t>
            </a:r>
          </a:p>
          <a:p>
            <a:pPr marL="0" indent="0" algn="ctr">
              <a:spcBef>
                <a:spcPts val="300"/>
              </a:spcBef>
              <a:buNone/>
            </a:pPr>
            <a:r>
              <a:rPr lang="en-IN" sz="1400" b="1">
                <a:solidFill>
                  <a:srgbClr val="002060"/>
                </a:solidFill>
                <a:latin typeface="Times New Roman" panose="02020603050405020304" pitchFamily="18" charset="0"/>
                <a:cs typeface="Times New Roman" panose="02020603050405020304" pitchFamily="18" charset="0"/>
              </a:rPr>
              <a:t>Sumith [1RR21IS056]</a:t>
            </a:r>
          </a:p>
          <a:p>
            <a:pPr marL="0" indent="0" algn="ctr">
              <a:spcBef>
                <a:spcPts val="300"/>
              </a:spcBef>
              <a:buNone/>
            </a:pPr>
            <a:r>
              <a:rPr lang="en-IN" sz="1400">
                <a:solidFill>
                  <a:schemeClr val="accent5"/>
                </a:solidFill>
                <a:latin typeface="Times New Roman" panose="02020603050405020304" pitchFamily="18" charset="0"/>
                <a:cs typeface="Times New Roman" panose="02020603050405020304" pitchFamily="18" charset="0"/>
              </a:rPr>
              <a:t> </a:t>
            </a:r>
            <a:endParaRPr lang="en-IN" sz="1400" dirty="0">
              <a:solidFill>
                <a:schemeClr val="accent5"/>
              </a:solidFill>
              <a:latin typeface="Times New Roman" panose="02020603050405020304" pitchFamily="18" charset="0"/>
              <a:cs typeface="Times New Roman" panose="02020603050405020304" pitchFamily="18" charset="0"/>
            </a:endParaRPr>
          </a:p>
          <a:p>
            <a:pPr marL="0" indent="0" algn="ctr">
              <a:spcBef>
                <a:spcPts val="300"/>
              </a:spcBef>
              <a:buNone/>
            </a:pPr>
            <a:r>
              <a:rPr lang="en-IN" sz="1900" b="1" dirty="0">
                <a:solidFill>
                  <a:schemeClr val="tx1"/>
                </a:solidFill>
                <a:latin typeface="Times New Roman" panose="02020603050405020304" pitchFamily="18" charset="0"/>
                <a:cs typeface="Times New Roman" panose="02020603050405020304" pitchFamily="18" charset="0"/>
              </a:rPr>
              <a:t>Supervisor </a:t>
            </a:r>
          </a:p>
          <a:p>
            <a:pPr marL="0" indent="0" algn="ctr">
              <a:spcBef>
                <a:spcPts val="300"/>
              </a:spcBef>
              <a:buNone/>
            </a:pPr>
            <a:r>
              <a:rPr lang="en-IN" sz="1900" b="1">
                <a:solidFill>
                  <a:srgbClr val="C00000"/>
                </a:solidFill>
                <a:latin typeface="Times New Roman" panose="02020603050405020304" pitchFamily="18" charset="0"/>
                <a:cs typeface="Times New Roman" panose="02020603050405020304" pitchFamily="18" charset="0"/>
              </a:rPr>
              <a:t>Dr. T Dharani</a:t>
            </a:r>
          </a:p>
          <a:p>
            <a:pPr marL="0" indent="0" algn="ctr">
              <a:spcBef>
                <a:spcPts val="300"/>
              </a:spcBef>
              <a:buNone/>
            </a:pPr>
            <a:r>
              <a:rPr lang="en-IN" sz="1900" b="1">
                <a:solidFill>
                  <a:srgbClr val="C00000"/>
                </a:solidFill>
                <a:latin typeface="Times New Roman" panose="02020603050405020304" pitchFamily="18" charset="0"/>
                <a:cs typeface="Times New Roman" panose="02020603050405020304" pitchFamily="18" charset="0"/>
              </a:rPr>
              <a:t>Assistant </a:t>
            </a:r>
            <a:r>
              <a:rPr lang="en-IN" sz="1900" b="1" dirty="0">
                <a:solidFill>
                  <a:srgbClr val="C00000"/>
                </a:solidFill>
                <a:latin typeface="Times New Roman" panose="02020603050405020304" pitchFamily="18" charset="0"/>
                <a:cs typeface="Times New Roman" panose="02020603050405020304" pitchFamily="18" charset="0"/>
              </a:rPr>
              <a:t>Professor</a:t>
            </a:r>
          </a:p>
          <a:p>
            <a:pPr marL="0" indent="0" algn="ctr">
              <a:spcBef>
                <a:spcPts val="300"/>
              </a:spcBef>
              <a:buNone/>
            </a:pPr>
            <a:endParaRPr lang="en-IN" sz="1900" b="1" dirty="0">
              <a:solidFill>
                <a:srgbClr val="C00000"/>
              </a:solidFill>
              <a:latin typeface="Times New Roman" panose="02020603050405020304" pitchFamily="18" charset="0"/>
              <a:cs typeface="Times New Roman" panose="02020603050405020304" pitchFamily="18" charset="0"/>
            </a:endParaRPr>
          </a:p>
        </p:txBody>
      </p:sp>
      <p:pic>
        <p:nvPicPr>
          <p:cNvPr id="5" name="Picture 1"/>
          <p:cNvPicPr>
            <a:picLocks noChangeAspect="1" noChangeArrowheads="1"/>
          </p:cNvPicPr>
          <p:nvPr/>
        </p:nvPicPr>
        <p:blipFill>
          <a:blip r:embed="rId2" cstate="print"/>
          <a:srcRect/>
          <a:stretch>
            <a:fillRect/>
          </a:stretch>
        </p:blipFill>
        <p:spPr bwMode="auto">
          <a:xfrm>
            <a:off x="90636" y="243389"/>
            <a:ext cx="1581785" cy="1061085"/>
          </a:xfrm>
          <a:prstGeom prst="rect">
            <a:avLst/>
          </a:prstGeom>
          <a:noFill/>
        </p:spPr>
      </p:pic>
      <p:pic>
        <p:nvPicPr>
          <p:cNvPr id="7" name="Picture 2"/>
          <p:cNvPicPr>
            <a:picLocks noChangeAspect="1" noChangeArrowheads="1"/>
          </p:cNvPicPr>
          <p:nvPr/>
        </p:nvPicPr>
        <p:blipFill>
          <a:blip r:embed="rId3"/>
          <a:srcRect/>
          <a:stretch>
            <a:fillRect/>
          </a:stretch>
        </p:blipFill>
        <p:spPr bwMode="auto">
          <a:xfrm>
            <a:off x="457369" y="5089819"/>
            <a:ext cx="1639570" cy="1411605"/>
          </a:xfrm>
          <a:prstGeom prst="rect">
            <a:avLst/>
          </a:prstGeom>
          <a:noFill/>
        </p:spPr>
      </p:pic>
      <p:sp>
        <p:nvSpPr>
          <p:cNvPr id="13" name="TextBox 12"/>
          <p:cNvSpPr txBox="1"/>
          <p:nvPr/>
        </p:nvSpPr>
        <p:spPr>
          <a:xfrm>
            <a:off x="1769807" y="5318569"/>
            <a:ext cx="5923168" cy="954107"/>
          </a:xfrm>
          <a:prstGeom prst="rect">
            <a:avLst/>
          </a:prstGeom>
          <a:noFill/>
        </p:spPr>
        <p:txBody>
          <a:bodyPr wrap="square" rtlCol="0">
            <a:spAutoFit/>
          </a:bodyPr>
          <a:lstStyle/>
          <a:p>
            <a:pPr algn="ctr"/>
            <a:r>
              <a:rPr lang="en-IN" sz="1400" b="1" dirty="0">
                <a:solidFill>
                  <a:srgbClr val="FF00FF"/>
                </a:solidFill>
                <a:latin typeface="Times New Roman" panose="02020603050405020304" pitchFamily="18" charset="0"/>
                <a:cs typeface="Times New Roman" panose="02020603050405020304" pitchFamily="18" charset="0"/>
              </a:rPr>
              <a:t>DEPARTMENT OF INFORMATION SCIENCE &amp; ENGINEERING</a:t>
            </a:r>
          </a:p>
          <a:p>
            <a:pPr algn="ctr"/>
            <a:r>
              <a:rPr lang="en-IN" sz="1400" b="1" dirty="0">
                <a:solidFill>
                  <a:srgbClr val="FF0000"/>
                </a:solidFill>
                <a:latin typeface="Times New Roman" panose="02020603050405020304" pitchFamily="18" charset="0"/>
                <a:cs typeface="Times New Roman" panose="02020603050405020304" pitchFamily="18" charset="0"/>
              </a:rPr>
              <a:t>RAJARAJESWARI COLLEGE OF ENGINEERING</a:t>
            </a:r>
          </a:p>
          <a:p>
            <a:pPr algn="ctr"/>
            <a:r>
              <a:rPr lang="en-IN" sz="1400" b="1" dirty="0">
                <a:solidFill>
                  <a:srgbClr val="FF00FF"/>
                </a:solidFill>
                <a:latin typeface="Times New Roman" panose="02020603050405020304" pitchFamily="18" charset="0"/>
                <a:cs typeface="Times New Roman" panose="02020603050405020304" pitchFamily="18" charset="0"/>
              </a:rPr>
              <a:t>MYSORE ROAD,BANGALORE – 560074</a:t>
            </a:r>
          </a:p>
          <a:p>
            <a:pPr algn="ctr"/>
            <a:r>
              <a:rPr lang="en-IN" sz="1400" b="1" dirty="0">
                <a:solidFill>
                  <a:srgbClr val="FF00FF"/>
                </a:solidFill>
                <a:latin typeface="Times New Roman" panose="02020603050405020304" pitchFamily="18" charset="0"/>
                <a:cs typeface="Times New Roman" panose="02020603050405020304" pitchFamily="18" charset="0"/>
              </a:rPr>
              <a:t>(An ISO 9001-2019 Certified Institute)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7205CE-FB6A-BC04-944C-8AA585EA5C7E}"/>
              </a:ext>
            </a:extLst>
          </p:cNvPr>
          <p:cNvSpPr>
            <a:spLocks noGrp="1"/>
          </p:cNvSpPr>
          <p:nvPr>
            <p:ph type="title"/>
          </p:nvPr>
        </p:nvSpPr>
        <p:spPr/>
        <p:txBody>
          <a:bodyPr/>
          <a:lstStyle/>
          <a:p>
            <a:r>
              <a:rPr lang="en-US" dirty="0"/>
              <a:t>CONTENTS</a:t>
            </a:r>
            <a:endParaRPr lang="en-IN" dirty="0"/>
          </a:p>
        </p:txBody>
      </p:sp>
      <p:sp>
        <p:nvSpPr>
          <p:cNvPr id="4" name="Footer Placeholder 3">
            <a:extLst>
              <a:ext uri="{FF2B5EF4-FFF2-40B4-BE49-F238E27FC236}">
                <a16:creationId xmlns:a16="http://schemas.microsoft.com/office/drawing/2014/main" id="{7072D333-091F-82CD-04C4-A7C6B2B4EE1E}"/>
              </a:ext>
            </a:extLst>
          </p:cNvPr>
          <p:cNvSpPr>
            <a:spLocks noGrp="1"/>
          </p:cNvSpPr>
          <p:nvPr>
            <p:ph type="ftr" sz="quarter" idx="11"/>
          </p:nvPr>
        </p:nvSpPr>
        <p:spPr/>
        <p:txBody>
          <a:bodyPr/>
          <a:lstStyle/>
          <a:p>
            <a:r>
              <a:rPr lang="en-IN"/>
              <a:t>Dept. of ISE, RRCE                                                                                                                                                     2019-20</a:t>
            </a:r>
            <a:endParaRPr lang="en-US" dirty="0"/>
          </a:p>
        </p:txBody>
      </p:sp>
      <p:sp>
        <p:nvSpPr>
          <p:cNvPr id="6" name="TextBox 5">
            <a:extLst>
              <a:ext uri="{FF2B5EF4-FFF2-40B4-BE49-F238E27FC236}">
                <a16:creationId xmlns:a16="http://schemas.microsoft.com/office/drawing/2014/main" id="{09E4925E-88F3-5569-A82F-9A52AE0E39DD}"/>
              </a:ext>
            </a:extLst>
          </p:cNvPr>
          <p:cNvSpPr txBox="1"/>
          <p:nvPr/>
        </p:nvSpPr>
        <p:spPr>
          <a:xfrm>
            <a:off x="678426" y="1238865"/>
            <a:ext cx="6558116" cy="4524315"/>
          </a:xfrm>
          <a:prstGeom prst="rect">
            <a:avLst/>
          </a:prstGeom>
          <a:noFill/>
        </p:spPr>
        <p:txBody>
          <a:bodyPr wrap="square" rtlCol="0">
            <a:spAutoFit/>
          </a:bodyPr>
          <a:lstStyle/>
          <a:p>
            <a:pPr marL="285750" indent="-285750">
              <a:buFont typeface="Wingdings" panose="05000000000000000000" pitchFamily="2" charset="2"/>
              <a:buChar char="Ø"/>
            </a:pPr>
            <a:r>
              <a:rPr lang="en-US" dirty="0"/>
              <a:t>Abstract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Introduction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Literature survey</a:t>
            </a:r>
          </a:p>
          <a:p>
            <a:endParaRPr lang="en-US" dirty="0"/>
          </a:p>
          <a:p>
            <a:pPr marL="285750" indent="-285750">
              <a:buFont typeface="Wingdings" panose="05000000000000000000" pitchFamily="2" charset="2"/>
              <a:buChar char="Ø"/>
            </a:pPr>
            <a:r>
              <a:rPr lang="en-US" dirty="0"/>
              <a:t>Objectives of the project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Architecture of the project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Methodology</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Application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Advantages</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4176477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1D0C73B-FC3B-6637-52A6-3660025E99F8}"/>
              </a:ext>
            </a:extLst>
          </p:cNvPr>
          <p:cNvSpPr>
            <a:spLocks noGrp="1"/>
          </p:cNvSpPr>
          <p:nvPr>
            <p:ph type="ftr" sz="quarter" idx="11"/>
          </p:nvPr>
        </p:nvSpPr>
        <p:spPr/>
        <p:txBody>
          <a:bodyPr/>
          <a:lstStyle/>
          <a:p>
            <a:r>
              <a:rPr lang="en-IN"/>
              <a:t>Dept. of ISE, RRCE                                                                                                                                                     2019-20</a:t>
            </a:r>
            <a:endParaRPr lang="en-US" dirty="0"/>
          </a:p>
        </p:txBody>
      </p:sp>
      <p:sp>
        <p:nvSpPr>
          <p:cNvPr id="5" name="TextBox 4">
            <a:extLst>
              <a:ext uri="{FF2B5EF4-FFF2-40B4-BE49-F238E27FC236}">
                <a16:creationId xmlns:a16="http://schemas.microsoft.com/office/drawing/2014/main" id="{78D7683A-8DB6-10BE-48D8-3EFC702CD1BF}"/>
              </a:ext>
            </a:extLst>
          </p:cNvPr>
          <p:cNvSpPr txBox="1"/>
          <p:nvPr/>
        </p:nvSpPr>
        <p:spPr>
          <a:xfrm>
            <a:off x="609599" y="324465"/>
            <a:ext cx="6685936" cy="3139321"/>
          </a:xfrm>
          <a:prstGeom prst="rect">
            <a:avLst/>
          </a:prstGeom>
          <a:noFill/>
        </p:spPr>
        <p:txBody>
          <a:bodyPr wrap="square" rtlCol="0">
            <a:spAutoFit/>
          </a:bodyPr>
          <a:lstStyle/>
          <a:p>
            <a:endParaRPr lang="en-US"/>
          </a:p>
          <a:p>
            <a:endParaRPr lang="en-US"/>
          </a:p>
          <a:p>
            <a:endParaRPr lang="en-US" dirty="0"/>
          </a:p>
          <a:p>
            <a:pPr marL="285750" indent="-285750">
              <a:buFont typeface="Wingdings" panose="05000000000000000000" pitchFamily="2" charset="2"/>
              <a:buChar char="Ø"/>
            </a:pPr>
            <a:r>
              <a:rPr lang="en-US" dirty="0"/>
              <a:t>HARDWARE AND SOFTWARE REQUIREMENTS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IN"/>
              <a:t>SNAPSHOTS</a:t>
            </a:r>
          </a:p>
          <a:p>
            <a:pPr marL="285750" indent="-285750">
              <a:buFont typeface="Wingdings" panose="05000000000000000000" pitchFamily="2" charset="2"/>
              <a:buChar char="Ø"/>
            </a:pPr>
            <a:endParaRPr lang="en-IN"/>
          </a:p>
          <a:p>
            <a:pPr marL="285750" indent="-285750">
              <a:buFont typeface="Wingdings" panose="05000000000000000000" pitchFamily="2" charset="2"/>
              <a:buChar char="Ø"/>
            </a:pPr>
            <a:r>
              <a:rPr lang="en-IN"/>
              <a:t>CONCLUSION</a:t>
            </a: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REFERENCES</a:t>
            </a:r>
          </a:p>
          <a:p>
            <a:endParaRPr lang="en-IN" dirty="0"/>
          </a:p>
        </p:txBody>
      </p:sp>
    </p:spTree>
    <p:extLst>
      <p:ext uri="{BB962C8B-B14F-4D97-AF65-F5344CB8AC3E}">
        <p14:creationId xmlns:p14="http://schemas.microsoft.com/office/powerpoint/2010/main" val="2919700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94393"/>
            <a:ext cx="6853085" cy="665408"/>
          </a:xfrm>
        </p:spPr>
        <p:txBody>
          <a:bodyPr>
            <a:normAutofit/>
          </a:bodyPr>
          <a:lstStyle/>
          <a:p>
            <a:pPr algn="ctr"/>
            <a:r>
              <a:rPr lang="en-US" sz="3200" dirty="0">
                <a:solidFill>
                  <a:srgbClr val="FF0000"/>
                </a:solidFill>
                <a:latin typeface="Times New Roman" panose="02020603050405020304" pitchFamily="18" charset="0"/>
                <a:cs typeface="Times New Roman" panose="02020603050405020304" pitchFamily="18" charset="0"/>
              </a:rPr>
              <a:t>ABSTRACT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7317" y="745173"/>
            <a:ext cx="8233120" cy="5367654"/>
          </a:xfrm>
        </p:spPr>
        <p:txBody>
          <a:bodyPr>
            <a:normAutofit/>
          </a:bodyPr>
          <a:lstStyle/>
          <a:p>
            <a:pPr marL="0" indent="0" algn="just">
              <a:lnSpc>
                <a:spcPct val="150000"/>
              </a:lnSpc>
              <a:buClrTx/>
              <a:buNone/>
            </a:pPr>
            <a:endParaRPr lang="en-IN" sz="2000">
              <a:solidFill>
                <a:srgbClr val="000000"/>
              </a:solidFill>
              <a:effectLst/>
              <a:latin typeface="Times New Roman" panose="02020603050405020304" pitchFamily="18" charset="0"/>
              <a:ea typeface="Times New Roman" panose="02020603050405020304" pitchFamily="18" charset="0"/>
            </a:endParaRPr>
          </a:p>
          <a:p>
            <a:pPr marL="0" indent="0" algn="just">
              <a:lnSpc>
                <a:spcPct val="150000"/>
              </a:lnSpc>
              <a:buClrTx/>
              <a:buNone/>
            </a:pPr>
            <a:r>
              <a:rPr lang="en-IN" sz="2000">
                <a:solidFill>
                  <a:srgbClr val="000000"/>
                </a:solidFill>
                <a:effectLst/>
                <a:latin typeface="Times New Roman" panose="02020603050405020304" pitchFamily="18" charset="0"/>
                <a:ea typeface="Times New Roman" panose="02020603050405020304" pitchFamily="18" charset="0"/>
              </a:rPr>
              <a:t>Distributed Denial of Service (DDoS) attacks are a growing threat to online services, and various methods have been developed to detect them. </a:t>
            </a:r>
            <a:r>
              <a:rPr lang="en-IN"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However </a:t>
            </a:r>
            <a:r>
              <a:rPr lang="en-US" sz="2000">
                <a:solidFill>
                  <a:schemeClr val="tx1"/>
                </a:solidFill>
                <a:latin typeface="Times New Roman" panose="02020603050405020304" pitchFamily="18" charset="0"/>
                <a:cs typeface="Times New Roman" panose="02020603050405020304" pitchFamily="18" charset="0"/>
              </a:rPr>
              <a:t>study addressing the impact of freely available DDoS tools on attack escalation. </a:t>
            </a:r>
          </a:p>
          <a:p>
            <a:pPr marL="0" indent="0" algn="just">
              <a:lnSpc>
                <a:spcPct val="150000"/>
              </a:lnSpc>
              <a:buClrTx/>
              <a:buNone/>
            </a:pPr>
            <a:r>
              <a:rPr lang="en-US" sz="2000">
                <a:solidFill>
                  <a:schemeClr val="tx1"/>
                </a:solidFill>
                <a:latin typeface="Times New Roman" panose="02020603050405020304" pitchFamily="18" charset="0"/>
                <a:cs typeface="Times New Roman" panose="02020603050405020304" pitchFamily="18" charset="0"/>
              </a:rPr>
              <a:t>A machine learning-based detection model with feature selection significantly improves performance, achieving high accuracy (99.9%) and efficiency</a:t>
            </a:r>
            <a:r>
              <a:rPr lang="en-US" sz="2000">
                <a:latin typeface="Times New Roman" panose="02020603050405020304" pitchFamily="18" charset="0"/>
                <a:cs typeface="Times New Roman" panose="02020603050405020304" pitchFamily="18" charset="0"/>
              </a:rPr>
              <a:t>,</a:t>
            </a:r>
            <a:r>
              <a:rPr lang="en-IN" sz="2000" kern="100">
                <a:solidFill>
                  <a:srgbClr val="000000"/>
                </a:solidFill>
                <a:effectLst/>
                <a:latin typeface="Times New Roman" panose="02020603050405020304" pitchFamily="18" charset="0"/>
                <a:ea typeface="Times New Roman" panose="02020603050405020304" pitchFamily="18" charset="0"/>
              </a:rPr>
              <a:t> a precision score of 96%, a recall score of 98%, and an F1 score of 97%. Moreover, the examination found that by utilizing a deliberate approach for feature selection, our model’s efficacy was massively raised.</a:t>
            </a:r>
            <a:endParaRPr lang="en-IN" sz="2000" kern="100" dirty="0">
              <a:solidFill>
                <a:srgbClr val="000000"/>
              </a:solidFill>
              <a:effectLst/>
              <a:latin typeface="Times New Roman" panose="02020603050405020304" pitchFamily="18" charset="0"/>
              <a:ea typeface="Times New Roman" panose="02020603050405020304" pitchFamily="18" charset="0"/>
            </a:endParaRPr>
          </a:p>
        </p:txBody>
      </p:sp>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a:t>
            </a:r>
            <a:r>
              <a:rPr lang="en-IN" sz="1200" b="1">
                <a:solidFill>
                  <a:srgbClr val="0000FF"/>
                </a:solidFill>
                <a:latin typeface="Times New Roman" panose="02020603050405020304" pitchFamily="18" charset="0"/>
                <a:cs typeface="Times New Roman" panose="02020603050405020304" pitchFamily="18" charset="0"/>
              </a:rPr>
              <a:t>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48993"/>
            <a:ext cx="6347713" cy="606414"/>
          </a:xfrm>
        </p:spPr>
        <p:txBody>
          <a:bodyPr>
            <a:norm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        INTRODUCTION</a:t>
            </a:r>
          </a:p>
        </p:txBody>
      </p:sp>
      <p:sp>
        <p:nvSpPr>
          <p:cNvPr id="3" name="Content Placeholder 2"/>
          <p:cNvSpPr>
            <a:spLocks noGrp="1"/>
          </p:cNvSpPr>
          <p:nvPr>
            <p:ph idx="1"/>
          </p:nvPr>
        </p:nvSpPr>
        <p:spPr>
          <a:xfrm>
            <a:off x="130810" y="1075055"/>
            <a:ext cx="8348980" cy="5285740"/>
          </a:xfrm>
        </p:spPr>
        <p:txBody>
          <a:bodyPr>
            <a:normAutofit/>
          </a:bodyPr>
          <a:lstStyle/>
          <a:p>
            <a:pPr marL="354965" marR="5080" indent="-342900" algn="just">
              <a:lnSpc>
                <a:spcPct val="109500"/>
              </a:lnSpc>
              <a:spcBef>
                <a:spcPts val="100"/>
              </a:spcBef>
              <a:buClr>
                <a:schemeClr val="tx1"/>
              </a:buClr>
              <a:buFont typeface="Arial" panose="020B0604020202020204" pitchFamily="34" charset="0"/>
              <a:buChar char="•"/>
              <a:tabLst>
                <a:tab pos="232410" algn="l"/>
              </a:tabLst>
            </a:pPr>
            <a:r>
              <a:rPr lang="en-US" sz="2000">
                <a:solidFill>
                  <a:schemeClr val="tx1"/>
                </a:solidFill>
                <a:latin typeface="Times New Roman"/>
                <a:cs typeface="Times New Roman"/>
              </a:rPr>
              <a:t>A </a:t>
            </a:r>
            <a:r>
              <a:rPr lang="en-US" sz="2000" spc="-5">
                <a:solidFill>
                  <a:schemeClr val="tx1"/>
                </a:solidFill>
                <a:latin typeface="Times New Roman"/>
                <a:cs typeface="Times New Roman"/>
              </a:rPr>
              <a:t>Denial-of-Service </a:t>
            </a:r>
            <a:r>
              <a:rPr lang="en-US" sz="2000" spc="5">
                <a:solidFill>
                  <a:schemeClr val="tx1"/>
                </a:solidFill>
                <a:latin typeface="Times New Roman"/>
                <a:cs typeface="Times New Roman"/>
              </a:rPr>
              <a:t>(DoS) </a:t>
            </a:r>
            <a:r>
              <a:rPr lang="en-US" sz="2000" spc="-5">
                <a:solidFill>
                  <a:schemeClr val="tx1"/>
                </a:solidFill>
                <a:latin typeface="Times New Roman"/>
                <a:cs typeface="Times New Roman"/>
              </a:rPr>
              <a:t>attack </a:t>
            </a:r>
            <a:r>
              <a:rPr lang="en-US" sz="2000" spc="40">
                <a:solidFill>
                  <a:schemeClr val="tx1"/>
                </a:solidFill>
                <a:latin typeface="Times New Roman"/>
                <a:cs typeface="Times New Roman"/>
              </a:rPr>
              <a:t>is </a:t>
            </a:r>
            <a:r>
              <a:rPr lang="en-US" sz="2000" spc="30">
                <a:solidFill>
                  <a:schemeClr val="tx1"/>
                </a:solidFill>
                <a:latin typeface="Times New Roman"/>
                <a:cs typeface="Times New Roman"/>
              </a:rPr>
              <a:t>an </a:t>
            </a:r>
            <a:r>
              <a:rPr lang="en-US" sz="2000" spc="-5">
                <a:solidFill>
                  <a:schemeClr val="tx1"/>
                </a:solidFill>
                <a:latin typeface="Times New Roman"/>
                <a:cs typeface="Times New Roman"/>
              </a:rPr>
              <a:t>attack</a:t>
            </a:r>
            <a:r>
              <a:rPr lang="en-US" sz="2000">
                <a:solidFill>
                  <a:schemeClr val="tx1"/>
                </a:solidFill>
                <a:latin typeface="Times New Roman"/>
                <a:cs typeface="Times New Roman"/>
              </a:rPr>
              <a:t> </a:t>
            </a:r>
            <a:r>
              <a:rPr lang="en-US" sz="2000" spc="-10">
                <a:solidFill>
                  <a:schemeClr val="tx1"/>
                </a:solidFill>
                <a:latin typeface="Times New Roman"/>
                <a:cs typeface="Times New Roman"/>
              </a:rPr>
              <a:t>meant</a:t>
            </a:r>
            <a:r>
              <a:rPr lang="en-US" sz="2000" spc="-5">
                <a:solidFill>
                  <a:schemeClr val="tx1"/>
                </a:solidFill>
                <a:latin typeface="Times New Roman"/>
                <a:cs typeface="Times New Roman"/>
              </a:rPr>
              <a:t> </a:t>
            </a:r>
            <a:r>
              <a:rPr lang="en-US" sz="2000">
                <a:solidFill>
                  <a:schemeClr val="tx1"/>
                </a:solidFill>
                <a:latin typeface="Times New Roman"/>
                <a:cs typeface="Times New Roman"/>
              </a:rPr>
              <a:t>to</a:t>
            </a:r>
            <a:r>
              <a:rPr lang="en-US" sz="2000" spc="5">
                <a:solidFill>
                  <a:schemeClr val="tx1"/>
                </a:solidFill>
                <a:latin typeface="Times New Roman"/>
                <a:cs typeface="Times New Roman"/>
              </a:rPr>
              <a:t> </a:t>
            </a:r>
            <a:r>
              <a:rPr lang="en-US" sz="2000" spc="-30">
                <a:solidFill>
                  <a:schemeClr val="tx1"/>
                </a:solidFill>
                <a:latin typeface="Times New Roman"/>
                <a:cs typeface="Times New Roman"/>
              </a:rPr>
              <a:t>shut</a:t>
            </a:r>
            <a:r>
              <a:rPr lang="en-US" sz="2000" spc="-25">
                <a:solidFill>
                  <a:schemeClr val="tx1"/>
                </a:solidFill>
                <a:latin typeface="Times New Roman"/>
                <a:cs typeface="Times New Roman"/>
              </a:rPr>
              <a:t> </a:t>
            </a:r>
            <a:r>
              <a:rPr lang="en-US" sz="2000" spc="15">
                <a:solidFill>
                  <a:schemeClr val="tx1"/>
                </a:solidFill>
                <a:latin typeface="Times New Roman"/>
                <a:cs typeface="Times New Roman"/>
              </a:rPr>
              <a:t>down </a:t>
            </a:r>
            <a:r>
              <a:rPr lang="en-US" sz="2000">
                <a:solidFill>
                  <a:schemeClr val="tx1"/>
                </a:solidFill>
                <a:latin typeface="Times New Roman"/>
                <a:cs typeface="Times New Roman"/>
              </a:rPr>
              <a:t>a</a:t>
            </a:r>
            <a:r>
              <a:rPr lang="en-US" sz="2000" spc="5">
                <a:solidFill>
                  <a:schemeClr val="tx1"/>
                </a:solidFill>
                <a:latin typeface="Times New Roman"/>
                <a:cs typeface="Times New Roman"/>
              </a:rPr>
              <a:t> </a:t>
            </a:r>
            <a:r>
              <a:rPr lang="en-US" sz="2000" spc="-10">
                <a:solidFill>
                  <a:schemeClr val="tx1"/>
                </a:solidFill>
                <a:latin typeface="Times New Roman"/>
                <a:cs typeface="Times New Roman"/>
              </a:rPr>
              <a:t>machine </a:t>
            </a:r>
            <a:r>
              <a:rPr lang="en-US" sz="2000" spc="-5">
                <a:solidFill>
                  <a:schemeClr val="tx1"/>
                </a:solidFill>
                <a:latin typeface="Times New Roman"/>
                <a:cs typeface="Times New Roman"/>
              </a:rPr>
              <a:t>or </a:t>
            </a:r>
            <a:r>
              <a:rPr lang="en-US" sz="2000" spc="-10">
                <a:solidFill>
                  <a:schemeClr val="tx1"/>
                </a:solidFill>
                <a:latin typeface="Times New Roman"/>
                <a:cs typeface="Times New Roman"/>
              </a:rPr>
              <a:t>network, </a:t>
            </a:r>
            <a:r>
              <a:rPr lang="en-US" sz="2000" spc="-15">
                <a:solidFill>
                  <a:schemeClr val="tx1"/>
                </a:solidFill>
                <a:latin typeface="Times New Roman"/>
                <a:cs typeface="Times New Roman"/>
              </a:rPr>
              <a:t>making </a:t>
            </a:r>
            <a:r>
              <a:rPr lang="en-US" sz="2000">
                <a:solidFill>
                  <a:schemeClr val="tx1"/>
                </a:solidFill>
                <a:latin typeface="Times New Roman"/>
                <a:cs typeface="Times New Roman"/>
              </a:rPr>
              <a:t>it </a:t>
            </a:r>
            <a:r>
              <a:rPr lang="en-US" sz="2000" spc="-5">
                <a:solidFill>
                  <a:schemeClr val="tx1"/>
                </a:solidFill>
                <a:latin typeface="Times New Roman"/>
                <a:cs typeface="Times New Roman"/>
              </a:rPr>
              <a:t>inaccessible </a:t>
            </a:r>
            <a:r>
              <a:rPr lang="en-US" sz="2000">
                <a:solidFill>
                  <a:schemeClr val="tx1"/>
                </a:solidFill>
                <a:latin typeface="Times New Roman"/>
                <a:cs typeface="Times New Roman"/>
              </a:rPr>
              <a:t>to its </a:t>
            </a:r>
            <a:r>
              <a:rPr lang="en-US" sz="2000" spc="-5">
                <a:solidFill>
                  <a:schemeClr val="tx1"/>
                </a:solidFill>
                <a:latin typeface="Times New Roman"/>
                <a:cs typeface="Times New Roman"/>
              </a:rPr>
              <a:t>intended </a:t>
            </a:r>
            <a:r>
              <a:rPr lang="en-US" sz="2000" spc="-25">
                <a:solidFill>
                  <a:schemeClr val="tx1"/>
                </a:solidFill>
                <a:latin typeface="Times New Roman"/>
                <a:cs typeface="Times New Roman"/>
              </a:rPr>
              <a:t>users. </a:t>
            </a:r>
            <a:r>
              <a:rPr lang="en-US" sz="2000" spc="-5">
                <a:solidFill>
                  <a:schemeClr val="tx1"/>
                </a:solidFill>
                <a:latin typeface="Times New Roman"/>
                <a:cs typeface="Times New Roman"/>
              </a:rPr>
              <a:t>DoS </a:t>
            </a:r>
            <a:r>
              <a:rPr lang="en-US" sz="2000" spc="5">
                <a:solidFill>
                  <a:schemeClr val="tx1"/>
                </a:solidFill>
                <a:latin typeface="Times New Roman"/>
                <a:cs typeface="Times New Roman"/>
              </a:rPr>
              <a:t>attacks accomplish </a:t>
            </a:r>
            <a:r>
              <a:rPr lang="en-US" sz="2000">
                <a:solidFill>
                  <a:schemeClr val="tx1"/>
                </a:solidFill>
                <a:latin typeface="Times New Roman"/>
                <a:cs typeface="Times New Roman"/>
              </a:rPr>
              <a:t>this </a:t>
            </a:r>
            <a:r>
              <a:rPr lang="en-US" sz="2000" spc="145">
                <a:solidFill>
                  <a:schemeClr val="tx1"/>
                </a:solidFill>
                <a:latin typeface="Times New Roman"/>
                <a:cs typeface="Times New Roman"/>
              </a:rPr>
              <a:t>by </a:t>
            </a:r>
            <a:r>
              <a:rPr lang="en-US" sz="2000" spc="150">
                <a:solidFill>
                  <a:schemeClr val="tx1"/>
                </a:solidFill>
                <a:latin typeface="Times New Roman"/>
                <a:cs typeface="Times New Roman"/>
              </a:rPr>
              <a:t> </a:t>
            </a:r>
            <a:r>
              <a:rPr lang="en-US" sz="2000" spc="-20">
                <a:solidFill>
                  <a:schemeClr val="tx1"/>
                </a:solidFill>
                <a:latin typeface="Times New Roman"/>
                <a:cs typeface="Times New Roman"/>
              </a:rPr>
              <a:t>flooding</a:t>
            </a:r>
            <a:r>
              <a:rPr lang="en-US" sz="2000" spc="85">
                <a:solidFill>
                  <a:schemeClr val="tx1"/>
                </a:solidFill>
                <a:latin typeface="Times New Roman"/>
                <a:cs typeface="Times New Roman"/>
              </a:rPr>
              <a:t> </a:t>
            </a:r>
            <a:r>
              <a:rPr lang="en-US" sz="2000" spc="-25">
                <a:solidFill>
                  <a:schemeClr val="tx1"/>
                </a:solidFill>
                <a:latin typeface="Times New Roman"/>
                <a:cs typeface="Times New Roman"/>
              </a:rPr>
              <a:t>the</a:t>
            </a:r>
            <a:r>
              <a:rPr lang="en-US" sz="2000" spc="65">
                <a:solidFill>
                  <a:schemeClr val="tx1"/>
                </a:solidFill>
                <a:latin typeface="Times New Roman"/>
                <a:cs typeface="Times New Roman"/>
              </a:rPr>
              <a:t> </a:t>
            </a:r>
            <a:r>
              <a:rPr lang="en-US" sz="2000" spc="-30">
                <a:solidFill>
                  <a:schemeClr val="tx1"/>
                </a:solidFill>
                <a:latin typeface="Times New Roman"/>
                <a:cs typeface="Times New Roman"/>
              </a:rPr>
              <a:t>target</a:t>
            </a:r>
            <a:r>
              <a:rPr lang="en-US" sz="2000" spc="85">
                <a:solidFill>
                  <a:schemeClr val="tx1"/>
                </a:solidFill>
                <a:latin typeface="Times New Roman"/>
                <a:cs typeface="Times New Roman"/>
              </a:rPr>
              <a:t> </a:t>
            </a:r>
            <a:r>
              <a:rPr lang="en-US" sz="2000">
                <a:solidFill>
                  <a:schemeClr val="tx1"/>
                </a:solidFill>
                <a:latin typeface="Times New Roman"/>
                <a:cs typeface="Times New Roman"/>
              </a:rPr>
              <a:t>with </a:t>
            </a:r>
            <a:r>
              <a:rPr lang="en-US" sz="2000" spc="-25">
                <a:solidFill>
                  <a:schemeClr val="tx1"/>
                </a:solidFill>
                <a:latin typeface="Times New Roman"/>
                <a:cs typeface="Times New Roman"/>
              </a:rPr>
              <a:t>traffic,</a:t>
            </a:r>
            <a:r>
              <a:rPr lang="en-US" sz="2000" spc="155">
                <a:solidFill>
                  <a:schemeClr val="tx1"/>
                </a:solidFill>
                <a:latin typeface="Times New Roman"/>
                <a:cs typeface="Times New Roman"/>
              </a:rPr>
              <a:t> </a:t>
            </a:r>
            <a:r>
              <a:rPr lang="en-US" sz="2000" spc="-5">
                <a:solidFill>
                  <a:schemeClr val="tx1"/>
                </a:solidFill>
                <a:latin typeface="Times New Roman"/>
                <a:cs typeface="Times New Roman"/>
              </a:rPr>
              <a:t>or</a:t>
            </a:r>
            <a:r>
              <a:rPr lang="en-US" sz="2000" spc="-45">
                <a:solidFill>
                  <a:schemeClr val="tx1"/>
                </a:solidFill>
                <a:latin typeface="Times New Roman"/>
                <a:cs typeface="Times New Roman"/>
              </a:rPr>
              <a:t> </a:t>
            </a:r>
            <a:r>
              <a:rPr lang="en-US" sz="2000" spc="-40">
                <a:solidFill>
                  <a:schemeClr val="tx1"/>
                </a:solidFill>
                <a:latin typeface="Times New Roman"/>
                <a:cs typeface="Times New Roman"/>
              </a:rPr>
              <a:t>sending</a:t>
            </a:r>
            <a:r>
              <a:rPr lang="en-US" sz="2000" spc="305">
                <a:solidFill>
                  <a:schemeClr val="tx1"/>
                </a:solidFill>
                <a:latin typeface="Times New Roman"/>
                <a:cs typeface="Times New Roman"/>
              </a:rPr>
              <a:t> </a:t>
            </a:r>
            <a:r>
              <a:rPr lang="en-US" sz="2000">
                <a:solidFill>
                  <a:schemeClr val="tx1"/>
                </a:solidFill>
                <a:latin typeface="Times New Roman"/>
                <a:cs typeface="Times New Roman"/>
              </a:rPr>
              <a:t>it</a:t>
            </a:r>
            <a:r>
              <a:rPr lang="en-US" sz="2000" spc="10">
                <a:solidFill>
                  <a:schemeClr val="tx1"/>
                </a:solidFill>
                <a:latin typeface="Times New Roman"/>
                <a:cs typeface="Times New Roman"/>
              </a:rPr>
              <a:t> </a:t>
            </a:r>
            <a:r>
              <a:rPr lang="en-US" sz="2000" spc="-25">
                <a:solidFill>
                  <a:schemeClr val="tx1"/>
                </a:solidFill>
                <a:latin typeface="Times New Roman"/>
                <a:cs typeface="Times New Roman"/>
              </a:rPr>
              <a:t>information</a:t>
            </a:r>
            <a:r>
              <a:rPr lang="en-US" sz="2000" spc="160">
                <a:solidFill>
                  <a:schemeClr val="tx1"/>
                </a:solidFill>
                <a:latin typeface="Times New Roman"/>
                <a:cs typeface="Times New Roman"/>
              </a:rPr>
              <a:t> </a:t>
            </a:r>
            <a:r>
              <a:rPr lang="en-US" sz="2000" spc="-25">
                <a:solidFill>
                  <a:schemeClr val="tx1"/>
                </a:solidFill>
                <a:latin typeface="Times New Roman"/>
                <a:cs typeface="Times New Roman"/>
              </a:rPr>
              <a:t>that</a:t>
            </a:r>
            <a:r>
              <a:rPr lang="en-US" sz="2000" spc="90">
                <a:solidFill>
                  <a:schemeClr val="tx1"/>
                </a:solidFill>
                <a:latin typeface="Times New Roman"/>
                <a:cs typeface="Times New Roman"/>
              </a:rPr>
              <a:t> </a:t>
            </a:r>
            <a:r>
              <a:rPr lang="en-US" sz="2000" spc="-15">
                <a:solidFill>
                  <a:schemeClr val="tx1"/>
                </a:solidFill>
                <a:latin typeface="Times New Roman"/>
                <a:cs typeface="Times New Roman"/>
              </a:rPr>
              <a:t>triggers</a:t>
            </a:r>
            <a:r>
              <a:rPr lang="en-US" sz="2000" spc="125">
                <a:solidFill>
                  <a:schemeClr val="tx1"/>
                </a:solidFill>
                <a:latin typeface="Times New Roman"/>
                <a:cs typeface="Times New Roman"/>
              </a:rPr>
              <a:t> </a:t>
            </a:r>
            <a:r>
              <a:rPr lang="en-US" sz="2000">
                <a:solidFill>
                  <a:schemeClr val="tx1"/>
                </a:solidFill>
                <a:latin typeface="Times New Roman"/>
                <a:cs typeface="Times New Roman"/>
              </a:rPr>
              <a:t>a</a:t>
            </a:r>
            <a:r>
              <a:rPr lang="en-US" sz="2000" spc="-10">
                <a:solidFill>
                  <a:schemeClr val="tx1"/>
                </a:solidFill>
                <a:latin typeface="Times New Roman"/>
                <a:cs typeface="Times New Roman"/>
              </a:rPr>
              <a:t> </a:t>
            </a:r>
            <a:r>
              <a:rPr lang="en-US" sz="2000" spc="-35">
                <a:solidFill>
                  <a:schemeClr val="tx1"/>
                </a:solidFill>
                <a:latin typeface="Times New Roman"/>
                <a:cs typeface="Times New Roman"/>
              </a:rPr>
              <a:t>crash.</a:t>
            </a:r>
            <a:endParaRPr lang="en-US" sz="2000">
              <a:solidFill>
                <a:schemeClr val="tx1"/>
              </a:solidFill>
              <a:latin typeface="Times New Roman"/>
              <a:cs typeface="Times New Roman"/>
            </a:endParaRPr>
          </a:p>
          <a:p>
            <a:pPr marL="354965" indent="-342900" algn="just">
              <a:lnSpc>
                <a:spcPct val="100000"/>
              </a:lnSpc>
              <a:spcBef>
                <a:spcPts val="2075"/>
              </a:spcBef>
              <a:buClr>
                <a:schemeClr val="tx1"/>
              </a:buClr>
              <a:buFont typeface="Arial" panose="020B0604020202020204" pitchFamily="34" charset="0"/>
              <a:buChar char="•"/>
              <a:tabLst>
                <a:tab pos="232410" algn="l"/>
              </a:tabLst>
            </a:pPr>
            <a:r>
              <a:rPr lang="en-US" sz="2000" spc="-5">
                <a:solidFill>
                  <a:schemeClr val="tx1"/>
                </a:solidFill>
                <a:latin typeface="Times New Roman"/>
                <a:cs typeface="Times New Roman"/>
              </a:rPr>
              <a:t>Attackers</a:t>
            </a:r>
            <a:r>
              <a:rPr lang="en-US" sz="2000" spc="-20">
                <a:solidFill>
                  <a:schemeClr val="tx1"/>
                </a:solidFill>
                <a:latin typeface="Times New Roman"/>
                <a:cs typeface="Times New Roman"/>
              </a:rPr>
              <a:t> </a:t>
            </a:r>
            <a:r>
              <a:rPr lang="en-US" sz="2000">
                <a:solidFill>
                  <a:schemeClr val="tx1"/>
                </a:solidFill>
                <a:latin typeface="Times New Roman"/>
                <a:cs typeface="Times New Roman"/>
              </a:rPr>
              <a:t>achieve</a:t>
            </a:r>
            <a:r>
              <a:rPr lang="en-US" sz="2000" spc="65">
                <a:solidFill>
                  <a:schemeClr val="tx1"/>
                </a:solidFill>
                <a:latin typeface="Times New Roman"/>
                <a:cs typeface="Times New Roman"/>
              </a:rPr>
              <a:t> </a:t>
            </a:r>
            <a:r>
              <a:rPr lang="en-US" sz="2000">
                <a:solidFill>
                  <a:schemeClr val="tx1"/>
                </a:solidFill>
                <a:latin typeface="Times New Roman"/>
                <a:cs typeface="Times New Roman"/>
              </a:rPr>
              <a:t>this</a:t>
            </a:r>
            <a:r>
              <a:rPr lang="en-US" sz="2000" spc="-30">
                <a:solidFill>
                  <a:schemeClr val="tx1"/>
                </a:solidFill>
                <a:latin typeface="Times New Roman"/>
                <a:cs typeface="Times New Roman"/>
              </a:rPr>
              <a:t> </a:t>
            </a:r>
            <a:r>
              <a:rPr lang="en-US" sz="2000" spc="35">
                <a:solidFill>
                  <a:schemeClr val="tx1"/>
                </a:solidFill>
                <a:latin typeface="Times New Roman"/>
                <a:cs typeface="Times New Roman"/>
              </a:rPr>
              <a:t>by</a:t>
            </a:r>
            <a:r>
              <a:rPr lang="en-US" sz="2000" spc="80">
                <a:solidFill>
                  <a:schemeClr val="tx1"/>
                </a:solidFill>
                <a:latin typeface="Times New Roman"/>
                <a:cs typeface="Times New Roman"/>
              </a:rPr>
              <a:t> </a:t>
            </a:r>
            <a:r>
              <a:rPr lang="en-US" sz="2000" spc="-10">
                <a:solidFill>
                  <a:schemeClr val="tx1"/>
                </a:solidFill>
                <a:latin typeface="Times New Roman"/>
                <a:cs typeface="Times New Roman"/>
              </a:rPr>
              <a:t>sending</a:t>
            </a:r>
            <a:r>
              <a:rPr lang="en-US" sz="2000" spc="85">
                <a:solidFill>
                  <a:schemeClr val="tx1"/>
                </a:solidFill>
                <a:latin typeface="Times New Roman"/>
                <a:cs typeface="Times New Roman"/>
              </a:rPr>
              <a:t> </a:t>
            </a:r>
            <a:r>
              <a:rPr lang="en-US" sz="2000" spc="-15">
                <a:solidFill>
                  <a:schemeClr val="tx1"/>
                </a:solidFill>
                <a:latin typeface="Times New Roman"/>
                <a:cs typeface="Times New Roman"/>
              </a:rPr>
              <a:t>more</a:t>
            </a:r>
            <a:r>
              <a:rPr lang="en-US" sz="2000" spc="65">
                <a:solidFill>
                  <a:schemeClr val="tx1"/>
                </a:solidFill>
                <a:latin typeface="Times New Roman"/>
                <a:cs typeface="Times New Roman"/>
              </a:rPr>
              <a:t> </a:t>
            </a:r>
            <a:r>
              <a:rPr lang="en-US" sz="2000" spc="-15">
                <a:solidFill>
                  <a:schemeClr val="tx1"/>
                </a:solidFill>
                <a:latin typeface="Times New Roman"/>
                <a:cs typeface="Times New Roman"/>
              </a:rPr>
              <a:t>traffic</a:t>
            </a:r>
            <a:r>
              <a:rPr lang="en-US" sz="2000" spc="70">
                <a:solidFill>
                  <a:schemeClr val="tx1"/>
                </a:solidFill>
                <a:latin typeface="Times New Roman"/>
                <a:cs typeface="Times New Roman"/>
              </a:rPr>
              <a:t> </a:t>
            </a:r>
            <a:r>
              <a:rPr lang="en-US" sz="2000">
                <a:solidFill>
                  <a:schemeClr val="tx1"/>
                </a:solidFill>
                <a:latin typeface="Times New Roman"/>
                <a:cs typeface="Times New Roman"/>
              </a:rPr>
              <a:t>&amp;</a:t>
            </a:r>
            <a:r>
              <a:rPr lang="en-US" sz="2000" spc="85">
                <a:solidFill>
                  <a:schemeClr val="tx1"/>
                </a:solidFill>
                <a:latin typeface="Times New Roman"/>
                <a:cs typeface="Times New Roman"/>
              </a:rPr>
              <a:t> </a:t>
            </a:r>
            <a:r>
              <a:rPr lang="en-US" sz="2000" spc="-5">
                <a:solidFill>
                  <a:schemeClr val="tx1"/>
                </a:solidFill>
                <a:latin typeface="Times New Roman"/>
                <a:cs typeface="Times New Roman"/>
              </a:rPr>
              <a:t>than</a:t>
            </a:r>
            <a:r>
              <a:rPr lang="en-US" sz="2000" spc="5">
                <a:solidFill>
                  <a:schemeClr val="tx1"/>
                </a:solidFill>
                <a:latin typeface="Times New Roman"/>
                <a:cs typeface="Times New Roman"/>
              </a:rPr>
              <a:t> </a:t>
            </a:r>
            <a:r>
              <a:rPr lang="en-US" sz="2000" spc="-25">
                <a:solidFill>
                  <a:schemeClr val="tx1"/>
                </a:solidFill>
                <a:latin typeface="Times New Roman"/>
                <a:cs typeface="Times New Roman"/>
              </a:rPr>
              <a:t>the</a:t>
            </a:r>
            <a:r>
              <a:rPr lang="en-US" sz="2000" spc="65">
                <a:solidFill>
                  <a:schemeClr val="tx1"/>
                </a:solidFill>
                <a:latin typeface="Times New Roman"/>
                <a:cs typeface="Times New Roman"/>
              </a:rPr>
              <a:t> </a:t>
            </a:r>
            <a:r>
              <a:rPr lang="en-US" sz="2000" spc="-15">
                <a:solidFill>
                  <a:schemeClr val="tx1"/>
                </a:solidFill>
                <a:latin typeface="Times New Roman"/>
                <a:cs typeface="Times New Roman"/>
              </a:rPr>
              <a:t>target</a:t>
            </a:r>
            <a:r>
              <a:rPr lang="en-US" sz="2000" spc="90">
                <a:solidFill>
                  <a:schemeClr val="tx1"/>
                </a:solidFill>
                <a:latin typeface="Times New Roman"/>
                <a:cs typeface="Times New Roman"/>
              </a:rPr>
              <a:t> </a:t>
            </a:r>
            <a:r>
              <a:rPr lang="en-US" sz="2000" spc="10">
                <a:solidFill>
                  <a:schemeClr val="tx1"/>
                </a:solidFill>
                <a:latin typeface="Times New Roman"/>
                <a:cs typeface="Times New Roman"/>
              </a:rPr>
              <a:t>can</a:t>
            </a:r>
            <a:r>
              <a:rPr lang="en-US" sz="2000" spc="85">
                <a:solidFill>
                  <a:schemeClr val="tx1"/>
                </a:solidFill>
                <a:latin typeface="Times New Roman"/>
                <a:cs typeface="Times New Roman"/>
              </a:rPr>
              <a:t> </a:t>
            </a:r>
            <a:r>
              <a:rPr lang="en-US" sz="2000" spc="-15">
                <a:solidFill>
                  <a:schemeClr val="tx1"/>
                </a:solidFill>
                <a:latin typeface="Times New Roman"/>
                <a:cs typeface="Times New Roman"/>
              </a:rPr>
              <a:t>handle,</a:t>
            </a:r>
            <a:r>
              <a:rPr lang="en-US" sz="2000" spc="75">
                <a:solidFill>
                  <a:schemeClr val="tx1"/>
                </a:solidFill>
                <a:latin typeface="Times New Roman"/>
                <a:cs typeface="Times New Roman"/>
              </a:rPr>
              <a:t> </a:t>
            </a:r>
            <a:r>
              <a:rPr lang="en-US" sz="2000">
                <a:solidFill>
                  <a:schemeClr val="tx1"/>
                </a:solidFill>
                <a:latin typeface="Times New Roman"/>
                <a:cs typeface="Times New Roman"/>
              </a:rPr>
              <a:t>causing</a:t>
            </a:r>
            <a:r>
              <a:rPr lang="en-US" sz="2000" spc="-5">
                <a:solidFill>
                  <a:schemeClr val="tx1"/>
                </a:solidFill>
                <a:latin typeface="Times New Roman"/>
                <a:cs typeface="Times New Roman"/>
              </a:rPr>
              <a:t> </a:t>
            </a:r>
            <a:r>
              <a:rPr lang="en-US" sz="2000" spc="5">
                <a:solidFill>
                  <a:schemeClr val="tx1"/>
                </a:solidFill>
                <a:latin typeface="Times New Roman"/>
                <a:cs typeface="Times New Roman"/>
              </a:rPr>
              <a:t>it </a:t>
            </a:r>
            <a:r>
              <a:rPr lang="en-US" sz="2000">
                <a:solidFill>
                  <a:schemeClr val="tx1"/>
                </a:solidFill>
                <a:latin typeface="Times New Roman"/>
                <a:cs typeface="Times New Roman"/>
              </a:rPr>
              <a:t>to</a:t>
            </a:r>
            <a:r>
              <a:rPr lang="en-US" sz="2000" spc="5">
                <a:solidFill>
                  <a:schemeClr val="tx1"/>
                </a:solidFill>
                <a:latin typeface="Times New Roman"/>
                <a:cs typeface="Times New Roman"/>
              </a:rPr>
              <a:t> </a:t>
            </a:r>
            <a:r>
              <a:rPr lang="en-US" sz="2000" spc="-30">
                <a:solidFill>
                  <a:schemeClr val="tx1"/>
                </a:solidFill>
                <a:latin typeface="Times New Roman"/>
                <a:cs typeface="Times New Roman"/>
              </a:rPr>
              <a:t>fail making</a:t>
            </a:r>
            <a:r>
              <a:rPr lang="en-US" sz="2000" spc="229">
                <a:solidFill>
                  <a:schemeClr val="tx1"/>
                </a:solidFill>
                <a:latin typeface="Times New Roman"/>
                <a:cs typeface="Times New Roman"/>
              </a:rPr>
              <a:t> </a:t>
            </a:r>
            <a:r>
              <a:rPr lang="en-US" sz="2000">
                <a:solidFill>
                  <a:schemeClr val="tx1"/>
                </a:solidFill>
                <a:latin typeface="Times New Roman"/>
                <a:cs typeface="Times New Roman"/>
              </a:rPr>
              <a:t>it</a:t>
            </a:r>
            <a:r>
              <a:rPr lang="en-US" sz="2000" spc="10">
                <a:solidFill>
                  <a:schemeClr val="tx1"/>
                </a:solidFill>
                <a:latin typeface="Times New Roman"/>
                <a:cs typeface="Times New Roman"/>
              </a:rPr>
              <a:t> </a:t>
            </a:r>
            <a:r>
              <a:rPr lang="en-US" sz="2000" spc="-30">
                <a:solidFill>
                  <a:schemeClr val="tx1"/>
                </a:solidFill>
                <a:latin typeface="Times New Roman"/>
                <a:cs typeface="Times New Roman"/>
              </a:rPr>
              <a:t>unable</a:t>
            </a:r>
            <a:r>
              <a:rPr lang="en-US" sz="2000" spc="140">
                <a:solidFill>
                  <a:schemeClr val="tx1"/>
                </a:solidFill>
                <a:latin typeface="Times New Roman"/>
                <a:cs typeface="Times New Roman"/>
              </a:rPr>
              <a:t> </a:t>
            </a:r>
            <a:r>
              <a:rPr lang="en-US" sz="2000">
                <a:solidFill>
                  <a:schemeClr val="tx1"/>
                </a:solidFill>
                <a:latin typeface="Times New Roman"/>
                <a:cs typeface="Times New Roman"/>
              </a:rPr>
              <a:t>to </a:t>
            </a:r>
            <a:r>
              <a:rPr lang="en-US" sz="2000" spc="-10">
                <a:solidFill>
                  <a:schemeClr val="tx1"/>
                </a:solidFill>
                <a:latin typeface="Times New Roman"/>
                <a:cs typeface="Times New Roman"/>
              </a:rPr>
              <a:t>provide </a:t>
            </a:r>
            <a:r>
              <a:rPr lang="en-US" sz="2000" spc="-30">
                <a:solidFill>
                  <a:schemeClr val="tx1"/>
                </a:solidFill>
                <a:latin typeface="Times New Roman"/>
                <a:cs typeface="Times New Roman"/>
              </a:rPr>
              <a:t>service</a:t>
            </a:r>
            <a:r>
              <a:rPr lang="en-US" sz="2000" spc="220">
                <a:solidFill>
                  <a:schemeClr val="tx1"/>
                </a:solidFill>
                <a:latin typeface="Times New Roman"/>
                <a:cs typeface="Times New Roman"/>
              </a:rPr>
              <a:t> </a:t>
            </a:r>
            <a:r>
              <a:rPr lang="en-US" sz="2000">
                <a:solidFill>
                  <a:schemeClr val="tx1"/>
                </a:solidFill>
                <a:latin typeface="Times New Roman"/>
                <a:cs typeface="Times New Roman"/>
              </a:rPr>
              <a:t>to</a:t>
            </a:r>
            <a:r>
              <a:rPr lang="en-US" sz="2000" spc="10">
                <a:solidFill>
                  <a:schemeClr val="tx1"/>
                </a:solidFill>
                <a:latin typeface="Times New Roman"/>
                <a:cs typeface="Times New Roman"/>
              </a:rPr>
              <a:t> </a:t>
            </a:r>
            <a:r>
              <a:rPr lang="en-US" sz="2000">
                <a:solidFill>
                  <a:schemeClr val="tx1"/>
                </a:solidFill>
                <a:latin typeface="Times New Roman"/>
                <a:cs typeface="Times New Roman"/>
              </a:rPr>
              <a:t>its</a:t>
            </a:r>
            <a:r>
              <a:rPr lang="en-US" sz="2000" spc="-30">
                <a:solidFill>
                  <a:schemeClr val="tx1"/>
                </a:solidFill>
                <a:latin typeface="Times New Roman"/>
                <a:cs typeface="Times New Roman"/>
              </a:rPr>
              <a:t> </a:t>
            </a:r>
            <a:r>
              <a:rPr lang="en-US" sz="2000" spc="-40">
                <a:solidFill>
                  <a:schemeClr val="tx1"/>
                </a:solidFill>
                <a:latin typeface="Times New Roman"/>
                <a:cs typeface="Times New Roman"/>
              </a:rPr>
              <a:t>normal</a:t>
            </a:r>
            <a:r>
              <a:rPr lang="en-US" sz="2000" spc="170">
                <a:solidFill>
                  <a:schemeClr val="tx1"/>
                </a:solidFill>
                <a:latin typeface="Times New Roman"/>
                <a:cs typeface="Times New Roman"/>
              </a:rPr>
              <a:t> </a:t>
            </a:r>
            <a:r>
              <a:rPr lang="en-US" sz="2000" spc="-50">
                <a:solidFill>
                  <a:schemeClr val="tx1"/>
                </a:solidFill>
                <a:latin typeface="Times New Roman"/>
                <a:cs typeface="Times New Roman"/>
              </a:rPr>
              <a:t>users.</a:t>
            </a:r>
            <a:endParaRPr lang="en-US" sz="2000">
              <a:solidFill>
                <a:schemeClr val="tx1"/>
              </a:solidFill>
              <a:latin typeface="Times New Roman"/>
              <a:cs typeface="Times New Roman"/>
            </a:endParaRPr>
          </a:p>
          <a:p>
            <a:pPr marL="354965" indent="-342900" algn="just">
              <a:lnSpc>
                <a:spcPct val="100000"/>
              </a:lnSpc>
              <a:spcBef>
                <a:spcPts val="2075"/>
              </a:spcBef>
              <a:buClr>
                <a:schemeClr val="tx1"/>
              </a:buClr>
              <a:buFont typeface="Arial" panose="020B0604020202020204" pitchFamily="34" charset="0"/>
              <a:buChar char="•"/>
              <a:tabLst>
                <a:tab pos="232410" algn="l"/>
              </a:tabLst>
            </a:pPr>
            <a:r>
              <a:rPr lang="en-US" sz="2000" spc="-30">
                <a:solidFill>
                  <a:schemeClr val="tx1"/>
                </a:solidFill>
                <a:latin typeface="Times New Roman"/>
                <a:cs typeface="Times New Roman"/>
              </a:rPr>
              <a:t>Examples</a:t>
            </a:r>
            <a:r>
              <a:rPr lang="en-US" sz="2000" spc="195">
                <a:solidFill>
                  <a:schemeClr val="tx1"/>
                </a:solidFill>
                <a:latin typeface="Times New Roman"/>
                <a:cs typeface="Times New Roman"/>
              </a:rPr>
              <a:t> </a:t>
            </a:r>
            <a:r>
              <a:rPr lang="en-US" sz="2000">
                <a:solidFill>
                  <a:schemeClr val="tx1"/>
                </a:solidFill>
                <a:latin typeface="Times New Roman"/>
                <a:cs typeface="Times New Roman"/>
              </a:rPr>
              <a:t>are</a:t>
            </a:r>
            <a:r>
              <a:rPr lang="en-US" sz="2000" spc="-15">
                <a:solidFill>
                  <a:schemeClr val="tx1"/>
                </a:solidFill>
                <a:latin typeface="Times New Roman"/>
                <a:cs typeface="Times New Roman"/>
              </a:rPr>
              <a:t> </a:t>
            </a:r>
            <a:r>
              <a:rPr lang="en-US" sz="2000" spc="-30">
                <a:solidFill>
                  <a:schemeClr val="tx1"/>
                </a:solidFill>
                <a:latin typeface="Times New Roman"/>
                <a:cs typeface="Times New Roman"/>
              </a:rPr>
              <a:t>email,</a:t>
            </a:r>
            <a:r>
              <a:rPr lang="en-US" sz="2000" spc="155">
                <a:solidFill>
                  <a:schemeClr val="tx1"/>
                </a:solidFill>
                <a:latin typeface="Times New Roman"/>
                <a:cs typeface="Times New Roman"/>
              </a:rPr>
              <a:t> </a:t>
            </a:r>
            <a:r>
              <a:rPr lang="en-US" sz="2000" spc="-25">
                <a:solidFill>
                  <a:schemeClr val="tx1"/>
                </a:solidFill>
                <a:latin typeface="Times New Roman"/>
                <a:cs typeface="Times New Roman"/>
              </a:rPr>
              <a:t>online</a:t>
            </a:r>
            <a:r>
              <a:rPr lang="en-US" sz="2000" spc="135">
                <a:solidFill>
                  <a:schemeClr val="tx1"/>
                </a:solidFill>
                <a:latin typeface="Times New Roman"/>
                <a:cs typeface="Times New Roman"/>
              </a:rPr>
              <a:t> </a:t>
            </a:r>
            <a:r>
              <a:rPr lang="en-US" sz="2000" spc="-35">
                <a:solidFill>
                  <a:schemeClr val="tx1"/>
                </a:solidFill>
                <a:latin typeface="Times New Roman"/>
                <a:cs typeface="Times New Roman"/>
              </a:rPr>
              <a:t>banking,</a:t>
            </a:r>
            <a:r>
              <a:rPr lang="en-US" sz="2000" spc="229">
                <a:solidFill>
                  <a:schemeClr val="tx1"/>
                </a:solidFill>
                <a:latin typeface="Times New Roman"/>
                <a:cs typeface="Times New Roman"/>
              </a:rPr>
              <a:t> </a:t>
            </a:r>
            <a:r>
              <a:rPr lang="en-US" sz="2000" spc="-30">
                <a:solidFill>
                  <a:schemeClr val="tx1"/>
                </a:solidFill>
                <a:latin typeface="Times New Roman"/>
                <a:cs typeface="Times New Roman"/>
              </a:rPr>
              <a:t>websites.</a:t>
            </a:r>
            <a:endParaRPr lang="en-US" sz="2000">
              <a:solidFill>
                <a:schemeClr val="tx1"/>
              </a:solidFill>
              <a:latin typeface="Times New Roman"/>
              <a:cs typeface="Times New Roman"/>
            </a:endParaRPr>
          </a:p>
          <a:p>
            <a:pPr marL="354965" marR="33020" indent="-342900" algn="just">
              <a:lnSpc>
                <a:spcPct val="109500"/>
              </a:lnSpc>
              <a:spcBef>
                <a:spcPts val="1800"/>
              </a:spcBef>
              <a:buClr>
                <a:schemeClr val="tx1"/>
              </a:buClr>
              <a:buFont typeface="Arial" panose="020B0604020202020204" pitchFamily="34" charset="0"/>
              <a:buChar char="•"/>
              <a:tabLst>
                <a:tab pos="365760" algn="l"/>
              </a:tabLst>
            </a:pPr>
            <a:r>
              <a:rPr lang="en-US" sz="2000">
                <a:solidFill>
                  <a:schemeClr val="tx1"/>
                </a:solidFill>
                <a:latin typeface="Times New Roman"/>
                <a:cs typeface="Times New Roman"/>
              </a:rPr>
              <a:t>A </a:t>
            </a:r>
            <a:r>
              <a:rPr lang="en-US" sz="2000" spc="-5">
                <a:solidFill>
                  <a:schemeClr val="tx1"/>
                </a:solidFill>
                <a:latin typeface="Times New Roman"/>
                <a:cs typeface="Times New Roman"/>
              </a:rPr>
              <a:t>distributed </a:t>
            </a:r>
            <a:r>
              <a:rPr lang="en-US" sz="2000">
                <a:solidFill>
                  <a:schemeClr val="tx1"/>
                </a:solidFill>
                <a:latin typeface="Times New Roman"/>
                <a:cs typeface="Times New Roman"/>
              </a:rPr>
              <a:t>denial-of-service (DDoS) </a:t>
            </a:r>
            <a:r>
              <a:rPr lang="en-US" sz="2000" spc="-5">
                <a:solidFill>
                  <a:schemeClr val="tx1"/>
                </a:solidFill>
                <a:latin typeface="Times New Roman"/>
                <a:cs typeface="Times New Roman"/>
              </a:rPr>
              <a:t>attack </a:t>
            </a:r>
            <a:r>
              <a:rPr lang="en-US" sz="2000" spc="40">
                <a:solidFill>
                  <a:schemeClr val="tx1"/>
                </a:solidFill>
                <a:latin typeface="Times New Roman"/>
                <a:cs typeface="Times New Roman"/>
              </a:rPr>
              <a:t>is </a:t>
            </a:r>
            <a:r>
              <a:rPr lang="en-US" sz="2000">
                <a:solidFill>
                  <a:schemeClr val="tx1"/>
                </a:solidFill>
                <a:latin typeface="Times New Roman"/>
                <a:cs typeface="Times New Roman"/>
              </a:rPr>
              <a:t>a </a:t>
            </a:r>
            <a:r>
              <a:rPr lang="en-US" sz="2000" spc="-10">
                <a:solidFill>
                  <a:schemeClr val="tx1"/>
                </a:solidFill>
                <a:latin typeface="Times New Roman"/>
                <a:cs typeface="Times New Roman"/>
              </a:rPr>
              <a:t>DOS attack that</a:t>
            </a:r>
            <a:r>
              <a:rPr lang="en-US" sz="2000" spc="-5">
                <a:solidFill>
                  <a:schemeClr val="tx1"/>
                </a:solidFill>
                <a:latin typeface="Times New Roman"/>
                <a:cs typeface="Times New Roman"/>
              </a:rPr>
              <a:t> </a:t>
            </a:r>
            <a:r>
              <a:rPr lang="en-US" sz="2000" spc="5">
                <a:solidFill>
                  <a:schemeClr val="tx1"/>
                </a:solidFill>
                <a:latin typeface="Times New Roman"/>
                <a:cs typeface="Times New Roman"/>
              </a:rPr>
              <a:t>uses </a:t>
            </a:r>
            <a:r>
              <a:rPr lang="en-US" sz="2000" spc="-10">
                <a:solidFill>
                  <a:schemeClr val="tx1"/>
                </a:solidFill>
                <a:latin typeface="Times New Roman"/>
                <a:cs typeface="Times New Roman"/>
              </a:rPr>
              <a:t>multiple </a:t>
            </a:r>
            <a:r>
              <a:rPr lang="en-US" sz="2000" spc="-5">
                <a:solidFill>
                  <a:schemeClr val="tx1"/>
                </a:solidFill>
                <a:latin typeface="Times New Roman"/>
                <a:cs typeface="Times New Roman"/>
              </a:rPr>
              <a:t> </a:t>
            </a:r>
            <a:r>
              <a:rPr lang="en-US" sz="2000" spc="-30">
                <a:solidFill>
                  <a:schemeClr val="tx1"/>
                </a:solidFill>
                <a:latin typeface="Times New Roman"/>
                <a:cs typeface="Times New Roman"/>
              </a:rPr>
              <a:t>computers</a:t>
            </a:r>
            <a:r>
              <a:rPr lang="en-US" sz="2000" spc="200">
                <a:solidFill>
                  <a:schemeClr val="tx1"/>
                </a:solidFill>
                <a:latin typeface="Times New Roman"/>
                <a:cs typeface="Times New Roman"/>
              </a:rPr>
              <a:t> </a:t>
            </a:r>
            <a:r>
              <a:rPr lang="en-US" sz="2000" spc="-5">
                <a:solidFill>
                  <a:schemeClr val="tx1"/>
                </a:solidFill>
                <a:latin typeface="Times New Roman"/>
                <a:cs typeface="Times New Roman"/>
              </a:rPr>
              <a:t>or</a:t>
            </a:r>
            <a:r>
              <a:rPr lang="en-US" sz="2000" spc="25">
                <a:solidFill>
                  <a:schemeClr val="tx1"/>
                </a:solidFill>
                <a:latin typeface="Times New Roman"/>
                <a:cs typeface="Times New Roman"/>
              </a:rPr>
              <a:t> </a:t>
            </a:r>
            <a:r>
              <a:rPr lang="en-US" sz="2000" spc="-50">
                <a:solidFill>
                  <a:schemeClr val="tx1"/>
                </a:solidFill>
                <a:latin typeface="Times New Roman"/>
                <a:cs typeface="Times New Roman"/>
              </a:rPr>
              <a:t>machine</a:t>
            </a:r>
            <a:r>
              <a:rPr lang="en-US" sz="2000" spc="290">
                <a:solidFill>
                  <a:schemeClr val="tx1"/>
                </a:solidFill>
                <a:latin typeface="Times New Roman"/>
                <a:cs typeface="Times New Roman"/>
              </a:rPr>
              <a:t> </a:t>
            </a:r>
            <a:r>
              <a:rPr lang="en-US" sz="2000">
                <a:solidFill>
                  <a:schemeClr val="tx1"/>
                </a:solidFill>
                <a:latin typeface="Times New Roman"/>
                <a:cs typeface="Times New Roman"/>
              </a:rPr>
              <a:t>to</a:t>
            </a:r>
            <a:r>
              <a:rPr lang="en-US" sz="2000" spc="-5">
                <a:solidFill>
                  <a:schemeClr val="tx1"/>
                </a:solidFill>
                <a:latin typeface="Times New Roman"/>
                <a:cs typeface="Times New Roman"/>
              </a:rPr>
              <a:t> </a:t>
            </a:r>
            <a:r>
              <a:rPr lang="en-US" sz="2000" spc="-10">
                <a:solidFill>
                  <a:schemeClr val="tx1"/>
                </a:solidFill>
                <a:latin typeface="Times New Roman"/>
                <a:cs typeface="Times New Roman"/>
              </a:rPr>
              <a:t>flood</a:t>
            </a:r>
            <a:r>
              <a:rPr lang="en-US" sz="2000" spc="-5">
                <a:solidFill>
                  <a:schemeClr val="tx1"/>
                </a:solidFill>
                <a:latin typeface="Times New Roman"/>
                <a:cs typeface="Times New Roman"/>
              </a:rPr>
              <a:t> </a:t>
            </a:r>
            <a:r>
              <a:rPr lang="en-US" sz="2000">
                <a:solidFill>
                  <a:schemeClr val="tx1"/>
                </a:solidFill>
                <a:latin typeface="Times New Roman"/>
                <a:cs typeface="Times New Roman"/>
              </a:rPr>
              <a:t>a</a:t>
            </a:r>
            <a:r>
              <a:rPr lang="en-US" sz="2000" spc="-10">
                <a:solidFill>
                  <a:schemeClr val="tx1"/>
                </a:solidFill>
                <a:latin typeface="Times New Roman"/>
                <a:cs typeface="Times New Roman"/>
              </a:rPr>
              <a:t> </a:t>
            </a:r>
            <a:r>
              <a:rPr lang="en-US" sz="2000" spc="-25">
                <a:solidFill>
                  <a:schemeClr val="tx1"/>
                </a:solidFill>
                <a:latin typeface="Times New Roman"/>
                <a:cs typeface="Times New Roman"/>
              </a:rPr>
              <a:t>targeted</a:t>
            </a:r>
            <a:r>
              <a:rPr lang="en-US" sz="2000" spc="155">
                <a:solidFill>
                  <a:schemeClr val="tx1"/>
                </a:solidFill>
                <a:latin typeface="Times New Roman"/>
                <a:cs typeface="Times New Roman"/>
              </a:rPr>
              <a:t> </a:t>
            </a:r>
            <a:r>
              <a:rPr lang="en-US" sz="2000" spc="-25">
                <a:solidFill>
                  <a:schemeClr val="tx1"/>
                </a:solidFill>
                <a:latin typeface="Times New Roman"/>
                <a:cs typeface="Times New Roman"/>
              </a:rPr>
              <a:t>resource.</a:t>
            </a:r>
            <a:endParaRPr lang="en-US" sz="2000">
              <a:solidFill>
                <a:schemeClr val="tx1"/>
              </a:solidFill>
              <a:latin typeface="Times New Roman"/>
              <a:cs typeface="Times New Roman"/>
            </a:endParaRPr>
          </a:p>
          <a:p>
            <a:pPr marL="354965" marR="17780" indent="-342900" algn="just">
              <a:lnSpc>
                <a:spcPct val="109500"/>
              </a:lnSpc>
              <a:spcBef>
                <a:spcPts val="1880"/>
              </a:spcBef>
              <a:buClr>
                <a:schemeClr val="tx1"/>
              </a:buClr>
              <a:buFont typeface="Arial" panose="020B0604020202020204" pitchFamily="34" charset="0"/>
              <a:buChar char="•"/>
              <a:tabLst>
                <a:tab pos="232410" algn="l"/>
              </a:tabLst>
            </a:pPr>
            <a:r>
              <a:rPr lang="en-US" sz="2000" spc="-20">
                <a:solidFill>
                  <a:schemeClr val="tx1"/>
                </a:solidFill>
                <a:latin typeface="Times New Roman"/>
                <a:cs typeface="Times New Roman"/>
              </a:rPr>
              <a:t>Example </a:t>
            </a:r>
            <a:r>
              <a:rPr lang="en-US" sz="2000" spc="40">
                <a:solidFill>
                  <a:schemeClr val="tx1"/>
                </a:solidFill>
                <a:latin typeface="Times New Roman"/>
                <a:cs typeface="Times New Roman"/>
              </a:rPr>
              <a:t>is </a:t>
            </a:r>
            <a:r>
              <a:rPr lang="en-US" sz="2000">
                <a:solidFill>
                  <a:schemeClr val="tx1"/>
                </a:solidFill>
                <a:latin typeface="Times New Roman"/>
                <a:cs typeface="Times New Roman"/>
              </a:rPr>
              <a:t>Github, a </a:t>
            </a:r>
            <a:r>
              <a:rPr lang="en-US" sz="2000" spc="-5">
                <a:solidFill>
                  <a:schemeClr val="tx1"/>
                </a:solidFill>
                <a:latin typeface="Times New Roman"/>
                <a:cs typeface="Times New Roman"/>
              </a:rPr>
              <a:t>popular </a:t>
            </a:r>
            <a:r>
              <a:rPr lang="en-US" sz="2000">
                <a:solidFill>
                  <a:schemeClr val="tx1"/>
                </a:solidFill>
                <a:latin typeface="Times New Roman"/>
                <a:cs typeface="Times New Roman"/>
              </a:rPr>
              <a:t>online </a:t>
            </a:r>
            <a:r>
              <a:rPr lang="en-US" sz="2000" spc="10">
                <a:solidFill>
                  <a:schemeClr val="tx1"/>
                </a:solidFill>
                <a:latin typeface="Times New Roman"/>
                <a:cs typeface="Times New Roman"/>
              </a:rPr>
              <a:t>code </a:t>
            </a:r>
            <a:r>
              <a:rPr lang="en-US" sz="2000" spc="-15">
                <a:solidFill>
                  <a:schemeClr val="tx1"/>
                </a:solidFill>
                <a:latin typeface="Times New Roman"/>
                <a:cs typeface="Times New Roman"/>
              </a:rPr>
              <a:t>management </a:t>
            </a:r>
            <a:r>
              <a:rPr lang="en-US" sz="2000" spc="-10">
                <a:solidFill>
                  <a:schemeClr val="tx1"/>
                </a:solidFill>
                <a:latin typeface="Times New Roman"/>
                <a:cs typeface="Times New Roman"/>
              </a:rPr>
              <a:t>service </a:t>
            </a:r>
            <a:r>
              <a:rPr lang="en-US" sz="2000" spc="-15">
                <a:solidFill>
                  <a:schemeClr val="tx1"/>
                </a:solidFill>
                <a:latin typeface="Times New Roman"/>
                <a:cs typeface="Times New Roman"/>
              </a:rPr>
              <a:t>used </a:t>
            </a:r>
            <a:r>
              <a:rPr lang="en-US" sz="2000" spc="35">
                <a:solidFill>
                  <a:schemeClr val="tx1"/>
                </a:solidFill>
                <a:latin typeface="Times New Roman"/>
                <a:cs typeface="Times New Roman"/>
              </a:rPr>
              <a:t>by </a:t>
            </a:r>
            <a:r>
              <a:rPr lang="en-US" sz="2000" spc="-10">
                <a:solidFill>
                  <a:schemeClr val="tx1"/>
                </a:solidFill>
                <a:latin typeface="Times New Roman"/>
                <a:cs typeface="Times New Roman"/>
              </a:rPr>
              <a:t>millions </a:t>
            </a:r>
            <a:r>
              <a:rPr lang="en-US" sz="2000" spc="70">
                <a:solidFill>
                  <a:schemeClr val="tx1"/>
                </a:solidFill>
                <a:latin typeface="Times New Roman"/>
                <a:cs typeface="Times New Roman"/>
              </a:rPr>
              <a:t>of </a:t>
            </a:r>
            <a:r>
              <a:rPr lang="en-US" sz="2000" spc="75">
                <a:solidFill>
                  <a:schemeClr val="tx1"/>
                </a:solidFill>
                <a:latin typeface="Times New Roman"/>
                <a:cs typeface="Times New Roman"/>
              </a:rPr>
              <a:t> </a:t>
            </a:r>
            <a:r>
              <a:rPr lang="en-US" sz="2000" spc="-15">
                <a:solidFill>
                  <a:schemeClr val="tx1"/>
                </a:solidFill>
                <a:latin typeface="Times New Roman"/>
                <a:cs typeface="Times New Roman"/>
              </a:rPr>
              <a:t>developers. </a:t>
            </a:r>
            <a:r>
              <a:rPr lang="en-US" sz="2000" spc="5">
                <a:solidFill>
                  <a:schemeClr val="tx1"/>
                </a:solidFill>
                <a:latin typeface="Times New Roman"/>
                <a:cs typeface="Times New Roman"/>
              </a:rPr>
              <a:t>This </a:t>
            </a:r>
            <a:r>
              <a:rPr lang="en-US" sz="2000" spc="40">
                <a:solidFill>
                  <a:schemeClr val="tx1"/>
                </a:solidFill>
                <a:latin typeface="Times New Roman"/>
                <a:cs typeface="Times New Roman"/>
              </a:rPr>
              <a:t>is </a:t>
            </a:r>
            <a:r>
              <a:rPr lang="en-US" sz="2000" spc="-15">
                <a:solidFill>
                  <a:schemeClr val="tx1"/>
                </a:solidFill>
                <a:latin typeface="Times New Roman"/>
                <a:cs typeface="Times New Roman"/>
              </a:rPr>
              <a:t>github </a:t>
            </a:r>
            <a:r>
              <a:rPr lang="en-US" sz="2000" spc="-10">
                <a:solidFill>
                  <a:schemeClr val="tx1"/>
                </a:solidFill>
                <a:latin typeface="Times New Roman"/>
                <a:cs typeface="Times New Roman"/>
              </a:rPr>
              <a:t>attack </a:t>
            </a:r>
            <a:r>
              <a:rPr lang="en-US" sz="2000" spc="15">
                <a:solidFill>
                  <a:schemeClr val="tx1"/>
                </a:solidFill>
                <a:latin typeface="Times New Roman"/>
                <a:cs typeface="Times New Roman"/>
              </a:rPr>
              <a:t>was </a:t>
            </a:r>
            <a:r>
              <a:rPr lang="en-US" sz="2000">
                <a:solidFill>
                  <a:schemeClr val="tx1"/>
                </a:solidFill>
                <a:latin typeface="Times New Roman"/>
                <a:cs typeface="Times New Roman"/>
              </a:rPr>
              <a:t>a </a:t>
            </a:r>
            <a:r>
              <a:rPr lang="en-US" sz="2000" spc="-5">
                <a:solidFill>
                  <a:schemeClr val="tx1"/>
                </a:solidFill>
                <a:latin typeface="Times New Roman"/>
                <a:cs typeface="Times New Roman"/>
              </a:rPr>
              <a:t>Memcached </a:t>
            </a:r>
            <a:r>
              <a:rPr lang="en-US" sz="2000" spc="-10">
                <a:solidFill>
                  <a:schemeClr val="tx1"/>
                </a:solidFill>
                <a:latin typeface="Times New Roman"/>
                <a:cs typeface="Times New Roman"/>
              </a:rPr>
              <a:t>DDOS attack, </a:t>
            </a:r>
            <a:r>
              <a:rPr lang="en-US" sz="2000" spc="-20">
                <a:solidFill>
                  <a:schemeClr val="tx1"/>
                </a:solidFill>
                <a:latin typeface="Times New Roman"/>
                <a:cs typeface="Times New Roman"/>
              </a:rPr>
              <a:t>so </a:t>
            </a:r>
            <a:r>
              <a:rPr lang="en-US" sz="2000">
                <a:solidFill>
                  <a:schemeClr val="tx1"/>
                </a:solidFill>
                <a:latin typeface="Times New Roman"/>
                <a:cs typeface="Times New Roman"/>
              </a:rPr>
              <a:t>there </a:t>
            </a:r>
            <a:r>
              <a:rPr lang="en-US" sz="2000" spc="15">
                <a:solidFill>
                  <a:schemeClr val="tx1"/>
                </a:solidFill>
                <a:latin typeface="Times New Roman"/>
                <a:cs typeface="Times New Roman"/>
              </a:rPr>
              <a:t>were </a:t>
            </a:r>
            <a:r>
              <a:rPr lang="en-US" sz="2000" spc="-5">
                <a:solidFill>
                  <a:schemeClr val="tx1"/>
                </a:solidFill>
                <a:latin typeface="Times New Roman"/>
                <a:cs typeface="Times New Roman"/>
              </a:rPr>
              <a:t>no botnets involved.</a:t>
            </a:r>
            <a:endParaRPr lang="en-US" sz="2000">
              <a:solidFill>
                <a:schemeClr val="tx1"/>
              </a:solidFill>
              <a:latin typeface="Times New Roman"/>
              <a:cs typeface="Times New Roman"/>
            </a:endParaRPr>
          </a:p>
          <a:p>
            <a:pPr marL="0" indent="0" algn="just">
              <a:lnSpc>
                <a:spcPct val="150000"/>
              </a:lnSpc>
              <a:buClrTx/>
              <a:buFont typeface="Arial" panose="020B0604020202020204" pitchFamily="34" charset="0"/>
              <a:buNone/>
            </a:pPr>
            <a:endParaRPr lang="en-US" altLang="en-US" sz="2000" dirty="0">
              <a:solidFill>
                <a:schemeClr val="tx1"/>
              </a:solidFill>
              <a:latin typeface="Times New Roman" panose="02020603050405020304" pitchFamily="18" charset="0"/>
              <a:cs typeface="Times New Roman" panose="02020603050405020304" pitchFamily="18" charset="0"/>
              <a:sym typeface="+mn-ea"/>
            </a:endParaRPr>
          </a:p>
        </p:txBody>
      </p:sp>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a:t>
            </a:r>
            <a:r>
              <a:rPr lang="en-IN" sz="1200" b="1">
                <a:solidFill>
                  <a:srgbClr val="0000FF"/>
                </a:solidFill>
                <a:latin typeface="Times New Roman" panose="02020603050405020304" pitchFamily="18" charset="0"/>
                <a:cs typeface="Times New Roman" panose="02020603050405020304" pitchFamily="18" charset="0"/>
              </a:rPr>
              <a:t>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2286000" y="107505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19" y="91011"/>
            <a:ext cx="6347713" cy="884349"/>
          </a:xfrm>
        </p:spPr>
        <p:txBody>
          <a:bodyPr>
            <a:normAutofit/>
          </a:bodyPr>
          <a:lstStyle/>
          <a:p>
            <a:pPr algn="ctr"/>
            <a:r>
              <a:rPr lang="en-IN" sz="3200" dirty="0">
                <a:solidFill>
                  <a:srgbClr val="0000FF"/>
                </a:solidFill>
                <a:latin typeface="Times New Roman" panose="02020603050405020304" pitchFamily="18" charset="0"/>
                <a:cs typeface="Times New Roman" panose="02020603050405020304" pitchFamily="18" charset="0"/>
              </a:rPr>
              <a:t>		</a:t>
            </a:r>
            <a:r>
              <a:rPr lang="en-IN" sz="3200" dirty="0">
                <a:solidFill>
                  <a:srgbClr val="FF0000"/>
                </a:solidFill>
                <a:latin typeface="Times New Roman" panose="02020603050405020304" pitchFamily="18" charset="0"/>
                <a:cs typeface="Times New Roman" panose="02020603050405020304" pitchFamily="18" charset="0"/>
              </a:rPr>
              <a:t>LITERATURE SURVEY</a:t>
            </a:r>
          </a:p>
        </p:txBody>
      </p:sp>
      <p:graphicFrame>
        <p:nvGraphicFramePr>
          <p:cNvPr id="3" name="Content Placeholder 2">
            <a:extLst>
              <a:ext uri="{FF2B5EF4-FFF2-40B4-BE49-F238E27FC236}">
                <a16:creationId xmlns:a16="http://schemas.microsoft.com/office/drawing/2014/main" id="{B024762B-860A-F1D2-9409-15F315018289}"/>
              </a:ext>
            </a:extLst>
          </p:cNvPr>
          <p:cNvGraphicFramePr>
            <a:graphicFrameLocks noGrp="1"/>
          </p:cNvGraphicFramePr>
          <p:nvPr>
            <p:ph idx="1"/>
            <p:extLst>
              <p:ext uri="{D42A27DB-BD31-4B8C-83A1-F6EECF244321}">
                <p14:modId xmlns:p14="http://schemas.microsoft.com/office/powerpoint/2010/main" val="2332585278"/>
              </p:ext>
            </p:extLst>
          </p:nvPr>
        </p:nvGraphicFramePr>
        <p:xfrm>
          <a:off x="152399" y="751840"/>
          <a:ext cx="8839202" cy="5546643"/>
        </p:xfrm>
        <a:graphic>
          <a:graphicData uri="http://schemas.openxmlformats.org/drawingml/2006/table">
            <a:tbl>
              <a:tblPr firstRow="1" bandRow="1">
                <a:tableStyleId>{5C22544A-7EE6-4342-B048-85BDC9FD1C3A}</a:tableStyleId>
              </a:tblPr>
              <a:tblGrid>
                <a:gridCol w="629920">
                  <a:extLst>
                    <a:ext uri="{9D8B030D-6E8A-4147-A177-3AD203B41FA5}">
                      <a16:colId xmlns:a16="http://schemas.microsoft.com/office/drawing/2014/main" val="358221839"/>
                    </a:ext>
                  </a:extLst>
                </a:gridCol>
                <a:gridCol w="1838960">
                  <a:extLst>
                    <a:ext uri="{9D8B030D-6E8A-4147-A177-3AD203B41FA5}">
                      <a16:colId xmlns:a16="http://schemas.microsoft.com/office/drawing/2014/main" val="2326054890"/>
                    </a:ext>
                  </a:extLst>
                </a:gridCol>
                <a:gridCol w="800347">
                  <a:extLst>
                    <a:ext uri="{9D8B030D-6E8A-4147-A177-3AD203B41FA5}">
                      <a16:colId xmlns:a16="http://schemas.microsoft.com/office/drawing/2014/main" val="4046518281"/>
                    </a:ext>
                  </a:extLst>
                </a:gridCol>
                <a:gridCol w="1396180">
                  <a:extLst>
                    <a:ext uri="{9D8B030D-6E8A-4147-A177-3AD203B41FA5}">
                      <a16:colId xmlns:a16="http://schemas.microsoft.com/office/drawing/2014/main" val="102687367"/>
                    </a:ext>
                  </a:extLst>
                </a:gridCol>
                <a:gridCol w="2151953">
                  <a:extLst>
                    <a:ext uri="{9D8B030D-6E8A-4147-A177-3AD203B41FA5}">
                      <a16:colId xmlns:a16="http://schemas.microsoft.com/office/drawing/2014/main" val="3258873963"/>
                    </a:ext>
                  </a:extLst>
                </a:gridCol>
                <a:gridCol w="2021842">
                  <a:extLst>
                    <a:ext uri="{9D8B030D-6E8A-4147-A177-3AD203B41FA5}">
                      <a16:colId xmlns:a16="http://schemas.microsoft.com/office/drawing/2014/main" val="1191237995"/>
                    </a:ext>
                  </a:extLst>
                </a:gridCol>
              </a:tblGrid>
              <a:tr h="594830">
                <a:tc>
                  <a:txBody>
                    <a:bodyPr/>
                    <a:lstStyle/>
                    <a:p>
                      <a:r>
                        <a:rPr lang="en-US" sz="1400" b="1" dirty="0">
                          <a:latin typeface="Times New Roman" panose="02020603050405020304" pitchFamily="18" charset="0"/>
                          <a:cs typeface="Times New Roman" panose="02020603050405020304" pitchFamily="18" charset="0"/>
                        </a:rPr>
                        <a:t>Sl. No.</a:t>
                      </a:r>
                      <a:endParaRPr lang="en-IN" sz="1400" b="1"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Year of </a:t>
                      </a:r>
                    </a:p>
                    <a:p>
                      <a:r>
                        <a:rPr lang="en-US" sz="1400" dirty="0">
                          <a:latin typeface="Times New Roman" panose="02020603050405020304" pitchFamily="18" charset="0"/>
                          <a:cs typeface="Times New Roman" panose="02020603050405020304" pitchFamily="18" charset="0"/>
                        </a:rPr>
                        <a:t>Journal</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Author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Limitation</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1600763"/>
                  </a:ext>
                </a:extLst>
              </a:tr>
              <a:tr h="2152613">
                <a:tc>
                  <a:txBody>
                    <a:bodyPr/>
                    <a:lstStyle/>
                    <a:p>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solidFill>
                            <a:srgbClr val="000000"/>
                          </a:solidFill>
                          <a:effectLst/>
                          <a:latin typeface="Times New Roman" panose="02020603050405020304" pitchFamily="18" charset="0"/>
                          <a:ea typeface="Times New Roman" panose="02020603050405020304" pitchFamily="18" charset="0"/>
                        </a:rPr>
                        <a:t>Intrusion detection using rule-based machine learning algorithms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a:latin typeface="Times New Roman" panose="02020603050405020304" pitchFamily="18" charset="0"/>
                          <a:cs typeface="Times New Roman" panose="02020603050405020304" pitchFamily="18" charset="0"/>
                        </a:rPr>
                        <a:t>2019</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solidFill>
                            <a:srgbClr val="000000"/>
                          </a:solidFill>
                          <a:effectLst/>
                          <a:latin typeface="Times New Roman" panose="02020603050405020304" pitchFamily="18" charset="0"/>
                          <a:ea typeface="Times New Roman" panose="02020603050405020304" pitchFamily="18" charset="0"/>
                        </a:rPr>
                        <a:t>D. Kshirsagar</a:t>
                      </a:r>
                    </a:p>
                    <a:p>
                      <a:r>
                        <a:rPr lang="en-IN" sz="1400">
                          <a:solidFill>
                            <a:srgbClr val="000000"/>
                          </a:solidFill>
                          <a:effectLst/>
                          <a:latin typeface="Times New Roman" panose="02020603050405020304" pitchFamily="18" charset="0"/>
                          <a:ea typeface="Times New Roman" panose="02020603050405020304" pitchFamily="18" charset="0"/>
                        </a:rPr>
                        <a:t>J. M. Shaikh</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solidFill>
                            <a:srgbClr val="000000"/>
                          </a:solidFill>
                          <a:effectLst/>
                          <a:latin typeface="Times New Roman" panose="02020603050405020304" pitchFamily="18" charset="0"/>
                          <a:ea typeface="Times New Roman" panose="02020603050405020304" pitchFamily="18" charset="0"/>
                        </a:rPr>
                        <a:t>Rule Based classifier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latin typeface="Times New Roman" panose="02020603050405020304" pitchFamily="18" charset="0"/>
                          <a:cs typeface="Times New Roman" panose="02020603050405020304" pitchFamily="18" charset="0"/>
                        </a:rPr>
                        <a:t>Rule Generalization Issues, High False Positives, Computational Complexity.</a:t>
                      </a:r>
                    </a:p>
                  </a:txBody>
                  <a:tcPr/>
                </a:tc>
                <a:extLst>
                  <a:ext uri="{0D108BD9-81ED-4DB2-BD59-A6C34878D82A}">
                    <a16:rowId xmlns:a16="http://schemas.microsoft.com/office/drawing/2014/main" val="3511269794"/>
                  </a:ext>
                </a:extLst>
              </a:tr>
              <a:tr h="2799200">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400">
                          <a:solidFill>
                            <a:srgbClr val="000000"/>
                          </a:solidFill>
                          <a:effectLst/>
                          <a:latin typeface="Times New Roman" panose="02020603050405020304" pitchFamily="18" charset="0"/>
                          <a:ea typeface="Times New Roman" panose="02020603050405020304" pitchFamily="18" charset="0"/>
                        </a:rPr>
                        <a:t>Low-rate DoS attacks, detection, defense, and challenges: A survey</a:t>
                      </a:r>
                      <a:r>
                        <a:rPr lang="en-IN" sz="1200">
                          <a:solidFill>
                            <a:srgbClr val="000000"/>
                          </a:solidFill>
                          <a:effectLst/>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a:latin typeface="Times New Roman" panose="02020603050405020304" pitchFamily="18" charset="0"/>
                          <a:cs typeface="Times New Roman" panose="02020603050405020304" pitchFamily="18" charset="0"/>
                        </a:rPr>
                        <a:t>2020</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solidFill>
                            <a:schemeClr val="tx1"/>
                          </a:solidFill>
                          <a:effectLst/>
                          <a:latin typeface="Times New Roman" panose="02020603050405020304" pitchFamily="18" charset="0"/>
                          <a:ea typeface="Times New Roman" panose="02020603050405020304" pitchFamily="18" charset="0"/>
                        </a:rPr>
                        <a:t>W. Zhijun, L. Wenjing, L. Liang, and Y. Meng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solidFill>
                            <a:srgbClr val="000000"/>
                          </a:solidFill>
                          <a:effectLst/>
                          <a:latin typeface="Times New Roman" panose="02020603050405020304" pitchFamily="18" charset="0"/>
                          <a:ea typeface="Times New Roman" panose="02020603050405020304" pitchFamily="18" charset="0"/>
                        </a:rPr>
                        <a:t>Filter Protection Strategy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a:latin typeface="Times New Roman" panose="02020603050405020304" pitchFamily="18" charset="0"/>
                          <a:cs typeface="Times New Roman" panose="02020603050405020304" pitchFamily="18" charset="0"/>
                        </a:rPr>
                        <a:t>Lack of Generalization, Complexity in Deployment, Adaptive Attacks.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6163939"/>
                  </a:ext>
                </a:extLst>
              </a:tr>
            </a:tbl>
          </a:graphicData>
        </a:graphic>
      </p:graphicFrame>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A85A0-227B-A01B-52EA-005BCEB43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47200-E452-861C-5CB6-CAD1B3583765}"/>
              </a:ext>
            </a:extLst>
          </p:cNvPr>
          <p:cNvSpPr>
            <a:spLocks noGrp="1"/>
          </p:cNvSpPr>
          <p:nvPr>
            <p:ph type="title"/>
          </p:nvPr>
        </p:nvSpPr>
        <p:spPr>
          <a:xfrm>
            <a:off x="609599" y="248992"/>
            <a:ext cx="6347713" cy="884349"/>
          </a:xfrm>
        </p:spPr>
        <p:txBody>
          <a:bodyPr>
            <a:normAutofit/>
          </a:bodyPr>
          <a:lstStyle/>
          <a:p>
            <a:pPr algn="r"/>
            <a:r>
              <a:rPr lang="en-IN" sz="3200"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8C794B46-9AC6-5E07-1EEB-A613BD84B2A6}"/>
              </a:ext>
            </a:extLst>
          </p:cNvPr>
          <p:cNvSpPr>
            <a:spLocks noGrp="1"/>
          </p:cNvSpPr>
          <p:nvPr>
            <p:ph idx="1"/>
          </p:nvPr>
        </p:nvSpPr>
        <p:spPr>
          <a:xfrm>
            <a:off x="609598" y="1133341"/>
            <a:ext cx="7739381" cy="5165224"/>
          </a:xfrm>
        </p:spPr>
        <p:txBody>
          <a:bodyPr>
            <a:normAutofit fontScale="97500"/>
          </a:bodyPr>
          <a:lstStyle/>
          <a:p>
            <a:pPr marL="0" indent="0" algn="just">
              <a:lnSpc>
                <a:spcPct val="150000"/>
              </a:lnSpc>
              <a:buNone/>
            </a:pPr>
            <a:r>
              <a:rPr lang="en-US" sz="1800" spc="-10">
                <a:solidFill>
                  <a:schemeClr val="tx1"/>
                </a:solidFill>
                <a:latin typeface="Times New Roman"/>
                <a:cs typeface="Times New Roman"/>
              </a:rPr>
              <a:t>Distributed Denial </a:t>
            </a:r>
            <a:r>
              <a:rPr lang="en-US" sz="1800">
                <a:solidFill>
                  <a:schemeClr val="tx1"/>
                </a:solidFill>
                <a:latin typeface="Times New Roman"/>
                <a:cs typeface="Times New Roman"/>
              </a:rPr>
              <a:t>of Service (DDoS) </a:t>
            </a:r>
            <a:r>
              <a:rPr lang="en-US" sz="1800" spc="-10">
                <a:solidFill>
                  <a:schemeClr val="tx1"/>
                </a:solidFill>
                <a:latin typeface="Times New Roman"/>
                <a:cs typeface="Times New Roman"/>
              </a:rPr>
              <a:t>attacks </a:t>
            </a:r>
            <a:r>
              <a:rPr lang="en-US" sz="1800">
                <a:solidFill>
                  <a:schemeClr val="tx1"/>
                </a:solidFill>
                <a:latin typeface="Times New Roman"/>
                <a:cs typeface="Times New Roman"/>
              </a:rPr>
              <a:t>are a growing </a:t>
            </a:r>
            <a:r>
              <a:rPr lang="en-US" sz="1800" spc="-15">
                <a:solidFill>
                  <a:schemeClr val="tx1"/>
                </a:solidFill>
                <a:latin typeface="Times New Roman"/>
                <a:cs typeface="Times New Roman"/>
              </a:rPr>
              <a:t>threat </a:t>
            </a:r>
            <a:r>
              <a:rPr lang="en-US" sz="1800">
                <a:solidFill>
                  <a:schemeClr val="tx1"/>
                </a:solidFill>
                <a:latin typeface="Times New Roman"/>
                <a:cs typeface="Times New Roman"/>
              </a:rPr>
              <a:t>to </a:t>
            </a:r>
            <a:r>
              <a:rPr lang="en-US" sz="1800" spc="-10">
                <a:solidFill>
                  <a:schemeClr val="tx1"/>
                </a:solidFill>
                <a:latin typeface="Times New Roman"/>
                <a:cs typeface="Times New Roman"/>
              </a:rPr>
              <a:t>online services, and </a:t>
            </a:r>
            <a:r>
              <a:rPr lang="en-US" sz="1800" spc="-5">
                <a:solidFill>
                  <a:schemeClr val="tx1"/>
                </a:solidFill>
                <a:latin typeface="Times New Roman"/>
                <a:cs typeface="Times New Roman"/>
              </a:rPr>
              <a:t> </a:t>
            </a:r>
            <a:r>
              <a:rPr lang="en-US" sz="1800">
                <a:solidFill>
                  <a:schemeClr val="tx1"/>
                </a:solidFill>
                <a:latin typeface="Times New Roman"/>
                <a:cs typeface="Times New Roman"/>
              </a:rPr>
              <a:t>various </a:t>
            </a:r>
            <a:r>
              <a:rPr lang="en-US" sz="1800" spc="-5">
                <a:solidFill>
                  <a:schemeClr val="tx1"/>
                </a:solidFill>
                <a:latin typeface="Times New Roman"/>
                <a:cs typeface="Times New Roman"/>
              </a:rPr>
              <a:t>methods </a:t>
            </a:r>
            <a:r>
              <a:rPr lang="en-US" sz="1800" spc="-30">
                <a:solidFill>
                  <a:schemeClr val="tx1"/>
                </a:solidFill>
                <a:latin typeface="Times New Roman"/>
                <a:cs typeface="Times New Roman"/>
              </a:rPr>
              <a:t>have </a:t>
            </a:r>
            <a:r>
              <a:rPr lang="en-US" sz="1800" spc="10">
                <a:solidFill>
                  <a:schemeClr val="tx1"/>
                </a:solidFill>
                <a:latin typeface="Times New Roman"/>
                <a:cs typeface="Times New Roman"/>
              </a:rPr>
              <a:t>been </a:t>
            </a:r>
            <a:r>
              <a:rPr lang="en-US" sz="1800" spc="-10">
                <a:solidFill>
                  <a:schemeClr val="tx1"/>
                </a:solidFill>
                <a:latin typeface="Times New Roman"/>
                <a:cs typeface="Times New Roman"/>
              </a:rPr>
              <a:t>developed </a:t>
            </a:r>
            <a:r>
              <a:rPr lang="en-US" sz="1800">
                <a:solidFill>
                  <a:schemeClr val="tx1"/>
                </a:solidFill>
                <a:latin typeface="Times New Roman"/>
                <a:cs typeface="Times New Roman"/>
              </a:rPr>
              <a:t>to </a:t>
            </a:r>
            <a:r>
              <a:rPr lang="en-US" sz="1800" spc="-10">
                <a:solidFill>
                  <a:schemeClr val="tx1"/>
                </a:solidFill>
                <a:latin typeface="Times New Roman"/>
                <a:cs typeface="Times New Roman"/>
              </a:rPr>
              <a:t>detect </a:t>
            </a:r>
            <a:r>
              <a:rPr lang="en-US" sz="1800" spc="-5">
                <a:solidFill>
                  <a:schemeClr val="tx1"/>
                </a:solidFill>
                <a:latin typeface="Times New Roman"/>
                <a:cs typeface="Times New Roman"/>
              </a:rPr>
              <a:t>them. </a:t>
            </a:r>
          </a:p>
          <a:p>
            <a:pPr marL="0" indent="0" algn="just">
              <a:lnSpc>
                <a:spcPct val="150000"/>
              </a:lnSpc>
              <a:buNone/>
            </a:pPr>
            <a:r>
              <a:rPr lang="en-US" sz="1800" spc="-10">
                <a:solidFill>
                  <a:schemeClr val="tx1"/>
                </a:solidFill>
                <a:latin typeface="Times New Roman"/>
                <a:cs typeface="Times New Roman"/>
              </a:rPr>
              <a:t>However, </a:t>
            </a:r>
            <a:r>
              <a:rPr lang="en-US" sz="1800" spc="-15">
                <a:solidFill>
                  <a:schemeClr val="tx1"/>
                </a:solidFill>
                <a:latin typeface="Times New Roman"/>
                <a:cs typeface="Times New Roman"/>
              </a:rPr>
              <a:t>past </a:t>
            </a:r>
            <a:r>
              <a:rPr lang="en-US" sz="1800">
                <a:solidFill>
                  <a:schemeClr val="tx1"/>
                </a:solidFill>
                <a:latin typeface="Times New Roman"/>
                <a:cs typeface="Times New Roman"/>
              </a:rPr>
              <a:t>research </a:t>
            </a:r>
            <a:r>
              <a:rPr lang="en-US" sz="1800" spc="-10">
                <a:solidFill>
                  <a:schemeClr val="tx1"/>
                </a:solidFill>
                <a:latin typeface="Times New Roman"/>
                <a:cs typeface="Times New Roman"/>
              </a:rPr>
              <a:t>has </a:t>
            </a:r>
            <a:r>
              <a:rPr lang="en-US" sz="1800" spc="-15">
                <a:solidFill>
                  <a:schemeClr val="tx1"/>
                </a:solidFill>
                <a:latin typeface="Times New Roman"/>
                <a:cs typeface="Times New Roman"/>
              </a:rPr>
              <a:t>mainly </a:t>
            </a:r>
            <a:r>
              <a:rPr lang="en-US" sz="1800" spc="-10">
                <a:solidFill>
                  <a:schemeClr val="tx1"/>
                </a:solidFill>
                <a:latin typeface="Times New Roman"/>
                <a:cs typeface="Times New Roman"/>
              </a:rPr>
              <a:t> </a:t>
            </a:r>
            <a:r>
              <a:rPr lang="en-US" sz="1800" spc="-20">
                <a:solidFill>
                  <a:schemeClr val="tx1"/>
                </a:solidFill>
                <a:latin typeface="Times New Roman"/>
                <a:cs typeface="Times New Roman"/>
              </a:rPr>
              <a:t>focused </a:t>
            </a:r>
            <a:r>
              <a:rPr lang="en-US" sz="1800" spc="35">
                <a:solidFill>
                  <a:schemeClr val="tx1"/>
                </a:solidFill>
                <a:latin typeface="Times New Roman"/>
                <a:cs typeface="Times New Roman"/>
              </a:rPr>
              <a:t>on </a:t>
            </a:r>
            <a:r>
              <a:rPr lang="en-US" sz="1800">
                <a:solidFill>
                  <a:schemeClr val="tx1"/>
                </a:solidFill>
                <a:latin typeface="Times New Roman"/>
                <a:cs typeface="Times New Roman"/>
              </a:rPr>
              <a:t>identifying </a:t>
            </a:r>
            <a:r>
              <a:rPr lang="en-US" sz="1800" spc="-10">
                <a:solidFill>
                  <a:schemeClr val="tx1"/>
                </a:solidFill>
                <a:latin typeface="Times New Roman"/>
                <a:cs typeface="Times New Roman"/>
              </a:rPr>
              <a:t>attack </a:t>
            </a:r>
            <a:r>
              <a:rPr lang="en-US" sz="1800" spc="5">
                <a:solidFill>
                  <a:schemeClr val="tx1"/>
                </a:solidFill>
                <a:latin typeface="Times New Roman"/>
                <a:cs typeface="Times New Roman"/>
              </a:rPr>
              <a:t>patterns </a:t>
            </a:r>
            <a:r>
              <a:rPr lang="en-US" sz="1800" spc="-10">
                <a:solidFill>
                  <a:schemeClr val="tx1"/>
                </a:solidFill>
                <a:latin typeface="Times New Roman"/>
                <a:cs typeface="Times New Roman"/>
              </a:rPr>
              <a:t>and </a:t>
            </a:r>
            <a:r>
              <a:rPr lang="en-US" sz="1800" spc="5">
                <a:solidFill>
                  <a:schemeClr val="tx1"/>
                </a:solidFill>
                <a:latin typeface="Times New Roman"/>
                <a:cs typeface="Times New Roman"/>
              </a:rPr>
              <a:t>types, </a:t>
            </a:r>
            <a:r>
              <a:rPr lang="en-US" sz="1800" spc="-5">
                <a:solidFill>
                  <a:schemeClr val="tx1"/>
                </a:solidFill>
                <a:latin typeface="Times New Roman"/>
                <a:cs typeface="Times New Roman"/>
              </a:rPr>
              <a:t>but </a:t>
            </a:r>
            <a:r>
              <a:rPr lang="en-US" sz="1800" spc="-15">
                <a:solidFill>
                  <a:schemeClr val="tx1"/>
                </a:solidFill>
                <a:latin typeface="Times New Roman"/>
                <a:cs typeface="Times New Roman"/>
              </a:rPr>
              <a:t>there </a:t>
            </a:r>
            <a:r>
              <a:rPr lang="en-US" sz="1800">
                <a:solidFill>
                  <a:schemeClr val="tx1"/>
                </a:solidFill>
                <a:latin typeface="Times New Roman"/>
                <a:cs typeface="Times New Roman"/>
              </a:rPr>
              <a:t>are attacks </a:t>
            </a:r>
            <a:r>
              <a:rPr lang="en-US" sz="1800" spc="-5">
                <a:solidFill>
                  <a:schemeClr val="tx1"/>
                </a:solidFill>
                <a:latin typeface="Times New Roman"/>
                <a:cs typeface="Times New Roman"/>
              </a:rPr>
              <a:t>done </a:t>
            </a:r>
            <a:r>
              <a:rPr lang="en-US" sz="1800" spc="35">
                <a:solidFill>
                  <a:schemeClr val="tx1"/>
                </a:solidFill>
                <a:latin typeface="Times New Roman"/>
                <a:cs typeface="Times New Roman"/>
              </a:rPr>
              <a:t>by </a:t>
            </a:r>
            <a:r>
              <a:rPr lang="en-US" sz="1800">
                <a:solidFill>
                  <a:schemeClr val="tx1"/>
                </a:solidFill>
                <a:latin typeface="Times New Roman"/>
                <a:cs typeface="Times New Roman"/>
              </a:rPr>
              <a:t>the </a:t>
            </a:r>
            <a:r>
              <a:rPr lang="en-US" sz="1800" spc="-10">
                <a:solidFill>
                  <a:schemeClr val="tx1"/>
                </a:solidFill>
                <a:latin typeface="Times New Roman"/>
                <a:cs typeface="Times New Roman"/>
              </a:rPr>
              <a:t>local </a:t>
            </a:r>
            <a:r>
              <a:rPr lang="en-US" sz="1800" spc="-5">
                <a:solidFill>
                  <a:schemeClr val="tx1"/>
                </a:solidFill>
                <a:latin typeface="Times New Roman"/>
                <a:cs typeface="Times New Roman"/>
              </a:rPr>
              <a:t> </a:t>
            </a:r>
            <a:r>
              <a:rPr lang="en-US" sz="1800" spc="-15">
                <a:solidFill>
                  <a:schemeClr val="tx1"/>
                </a:solidFill>
                <a:latin typeface="Times New Roman"/>
                <a:cs typeface="Times New Roman"/>
              </a:rPr>
              <a:t>freely </a:t>
            </a:r>
            <a:r>
              <a:rPr lang="en-US" sz="1800" spc="-10">
                <a:solidFill>
                  <a:schemeClr val="tx1"/>
                </a:solidFill>
                <a:latin typeface="Times New Roman"/>
                <a:cs typeface="Times New Roman"/>
              </a:rPr>
              <a:t>accessible</a:t>
            </a:r>
            <a:r>
              <a:rPr lang="en-US" sz="1800" spc="-5">
                <a:solidFill>
                  <a:schemeClr val="tx1"/>
                </a:solidFill>
                <a:latin typeface="Times New Roman"/>
                <a:cs typeface="Times New Roman"/>
              </a:rPr>
              <a:t> </a:t>
            </a:r>
            <a:r>
              <a:rPr lang="en-US" sz="1800" spc="15">
                <a:solidFill>
                  <a:schemeClr val="tx1"/>
                </a:solidFill>
                <a:latin typeface="Times New Roman"/>
                <a:cs typeface="Times New Roman"/>
              </a:rPr>
              <a:t>tools </a:t>
            </a:r>
            <a:r>
              <a:rPr lang="en-US" sz="1800" spc="-5">
                <a:solidFill>
                  <a:schemeClr val="tx1"/>
                </a:solidFill>
                <a:latin typeface="Times New Roman"/>
                <a:cs typeface="Times New Roman"/>
              </a:rPr>
              <a:t>where </a:t>
            </a:r>
            <a:r>
              <a:rPr lang="en-US" sz="1800" spc="10">
                <a:solidFill>
                  <a:schemeClr val="tx1"/>
                </a:solidFill>
                <a:latin typeface="Times New Roman"/>
                <a:cs typeface="Times New Roman"/>
              </a:rPr>
              <a:t>DDoS </a:t>
            </a:r>
            <a:r>
              <a:rPr lang="en-US" sz="1800" spc="-10">
                <a:solidFill>
                  <a:schemeClr val="tx1"/>
                </a:solidFill>
                <a:latin typeface="Times New Roman"/>
                <a:cs typeface="Times New Roman"/>
              </a:rPr>
              <a:t>attack</a:t>
            </a:r>
            <a:r>
              <a:rPr lang="en-US" sz="1800" spc="580">
                <a:solidFill>
                  <a:schemeClr val="tx1"/>
                </a:solidFill>
                <a:latin typeface="Times New Roman"/>
                <a:cs typeface="Times New Roman"/>
              </a:rPr>
              <a:t> </a:t>
            </a:r>
            <a:r>
              <a:rPr lang="en-US" sz="1800" spc="10">
                <a:solidFill>
                  <a:schemeClr val="tx1"/>
                </a:solidFill>
                <a:latin typeface="Times New Roman"/>
                <a:cs typeface="Times New Roman"/>
              </a:rPr>
              <a:t>can </a:t>
            </a:r>
            <a:r>
              <a:rPr lang="en-US" sz="1800" spc="35">
                <a:solidFill>
                  <a:schemeClr val="tx1"/>
                </a:solidFill>
                <a:latin typeface="Times New Roman"/>
                <a:cs typeface="Times New Roman"/>
              </a:rPr>
              <a:t>be </a:t>
            </a:r>
            <a:r>
              <a:rPr lang="en-US" sz="1800" spc="-5">
                <a:solidFill>
                  <a:schemeClr val="tx1"/>
                </a:solidFill>
                <a:latin typeface="Times New Roman"/>
                <a:cs typeface="Times New Roman"/>
              </a:rPr>
              <a:t>done</a:t>
            </a:r>
            <a:r>
              <a:rPr lang="en-US" sz="1800" spc="590">
                <a:solidFill>
                  <a:schemeClr val="tx1"/>
                </a:solidFill>
                <a:latin typeface="Times New Roman"/>
                <a:cs typeface="Times New Roman"/>
              </a:rPr>
              <a:t> </a:t>
            </a:r>
            <a:r>
              <a:rPr lang="en-US" sz="1800">
                <a:solidFill>
                  <a:schemeClr val="tx1"/>
                </a:solidFill>
                <a:latin typeface="Times New Roman"/>
                <a:cs typeface="Times New Roman"/>
              </a:rPr>
              <a:t>in a</a:t>
            </a:r>
            <a:r>
              <a:rPr lang="en-US" sz="1800" spc="600">
                <a:solidFill>
                  <a:schemeClr val="tx1"/>
                </a:solidFill>
                <a:latin typeface="Times New Roman"/>
                <a:cs typeface="Times New Roman"/>
              </a:rPr>
              <a:t> </a:t>
            </a:r>
            <a:r>
              <a:rPr lang="en-US" sz="1800" spc="-20">
                <a:solidFill>
                  <a:schemeClr val="tx1"/>
                </a:solidFill>
                <a:latin typeface="Times New Roman"/>
                <a:cs typeface="Times New Roman"/>
              </a:rPr>
              <a:t>very</a:t>
            </a:r>
            <a:r>
              <a:rPr lang="en-US" sz="1800" spc="560">
                <a:solidFill>
                  <a:schemeClr val="tx1"/>
                </a:solidFill>
                <a:latin typeface="Times New Roman"/>
                <a:cs typeface="Times New Roman"/>
              </a:rPr>
              <a:t> </a:t>
            </a:r>
            <a:r>
              <a:rPr lang="en-US" sz="1800" spc="-15">
                <a:solidFill>
                  <a:schemeClr val="tx1"/>
                </a:solidFill>
                <a:latin typeface="Times New Roman"/>
                <a:cs typeface="Times New Roman"/>
              </a:rPr>
              <a:t>facile </a:t>
            </a:r>
            <a:r>
              <a:rPr lang="en-US" sz="1800" spc="-10">
                <a:solidFill>
                  <a:schemeClr val="tx1"/>
                </a:solidFill>
                <a:latin typeface="Times New Roman"/>
                <a:cs typeface="Times New Roman"/>
              </a:rPr>
              <a:t>way. </a:t>
            </a:r>
            <a:r>
              <a:rPr lang="en-US" sz="1800" spc="-15">
                <a:solidFill>
                  <a:schemeClr val="tx1"/>
                </a:solidFill>
                <a:latin typeface="Times New Roman"/>
                <a:cs typeface="Times New Roman"/>
              </a:rPr>
              <a:t>Some</a:t>
            </a:r>
            <a:r>
              <a:rPr lang="en-US" sz="1800" spc="570">
                <a:solidFill>
                  <a:schemeClr val="tx1"/>
                </a:solidFill>
                <a:latin typeface="Times New Roman"/>
                <a:cs typeface="Times New Roman"/>
              </a:rPr>
              <a:t> </a:t>
            </a:r>
            <a:r>
              <a:rPr lang="en-US" sz="1800">
                <a:solidFill>
                  <a:schemeClr val="tx1"/>
                </a:solidFill>
                <a:latin typeface="Times New Roman"/>
                <a:cs typeface="Times New Roman"/>
              </a:rPr>
              <a:t>of </a:t>
            </a:r>
            <a:r>
              <a:rPr lang="en-US" sz="1800" spc="5">
                <a:solidFill>
                  <a:schemeClr val="tx1"/>
                </a:solidFill>
                <a:latin typeface="Times New Roman"/>
                <a:cs typeface="Times New Roman"/>
              </a:rPr>
              <a:t> </a:t>
            </a:r>
            <a:r>
              <a:rPr lang="en-US" sz="1800" spc="-25">
                <a:solidFill>
                  <a:schemeClr val="tx1"/>
                </a:solidFill>
                <a:latin typeface="Times New Roman"/>
                <a:cs typeface="Times New Roman"/>
              </a:rPr>
              <a:t>the</a:t>
            </a:r>
            <a:r>
              <a:rPr lang="en-US" sz="1800" spc="60">
                <a:solidFill>
                  <a:schemeClr val="tx1"/>
                </a:solidFill>
                <a:latin typeface="Times New Roman"/>
                <a:cs typeface="Times New Roman"/>
              </a:rPr>
              <a:t> </a:t>
            </a:r>
            <a:r>
              <a:rPr lang="en-US" sz="1800">
                <a:solidFill>
                  <a:schemeClr val="tx1"/>
                </a:solidFill>
                <a:latin typeface="Times New Roman"/>
                <a:cs typeface="Times New Roman"/>
              </a:rPr>
              <a:t>freely</a:t>
            </a:r>
            <a:r>
              <a:rPr lang="en-US" sz="1800" spc="15">
                <a:solidFill>
                  <a:schemeClr val="tx1"/>
                </a:solidFill>
                <a:latin typeface="Times New Roman"/>
                <a:cs typeface="Times New Roman"/>
              </a:rPr>
              <a:t> </a:t>
            </a:r>
            <a:r>
              <a:rPr lang="en-US" sz="1800">
                <a:solidFill>
                  <a:schemeClr val="tx1"/>
                </a:solidFill>
                <a:latin typeface="Times New Roman"/>
                <a:cs typeface="Times New Roman"/>
              </a:rPr>
              <a:t>accessible</a:t>
            </a:r>
            <a:r>
              <a:rPr lang="en-US" sz="1800" spc="80">
                <a:solidFill>
                  <a:schemeClr val="tx1"/>
                </a:solidFill>
                <a:latin typeface="Times New Roman"/>
                <a:cs typeface="Times New Roman"/>
              </a:rPr>
              <a:t> </a:t>
            </a:r>
            <a:r>
              <a:rPr lang="en-US" sz="1800" spc="15">
                <a:solidFill>
                  <a:schemeClr val="tx1"/>
                </a:solidFill>
                <a:latin typeface="Times New Roman"/>
                <a:cs typeface="Times New Roman"/>
              </a:rPr>
              <a:t>tools</a:t>
            </a:r>
            <a:r>
              <a:rPr lang="en-US" sz="1800" spc="-25">
                <a:solidFill>
                  <a:schemeClr val="tx1"/>
                </a:solidFill>
                <a:latin typeface="Times New Roman"/>
                <a:cs typeface="Times New Roman"/>
              </a:rPr>
              <a:t> </a:t>
            </a:r>
            <a:r>
              <a:rPr lang="en-US" sz="1800">
                <a:solidFill>
                  <a:schemeClr val="tx1"/>
                </a:solidFill>
                <a:latin typeface="Times New Roman"/>
                <a:cs typeface="Times New Roman"/>
              </a:rPr>
              <a:t>are</a:t>
            </a:r>
            <a:r>
              <a:rPr lang="en-US" sz="1800" spc="65">
                <a:solidFill>
                  <a:schemeClr val="tx1"/>
                </a:solidFill>
                <a:latin typeface="Times New Roman"/>
                <a:cs typeface="Times New Roman"/>
              </a:rPr>
              <a:t> </a:t>
            </a:r>
            <a:r>
              <a:rPr lang="en-US" sz="1800" spc="-15">
                <a:solidFill>
                  <a:schemeClr val="tx1"/>
                </a:solidFill>
                <a:latin typeface="Times New Roman"/>
                <a:cs typeface="Times New Roman"/>
              </a:rPr>
              <a:t>Low</a:t>
            </a:r>
            <a:r>
              <a:rPr lang="en-US" sz="1800" spc="70">
                <a:solidFill>
                  <a:schemeClr val="tx1"/>
                </a:solidFill>
                <a:latin typeface="Times New Roman"/>
                <a:cs typeface="Times New Roman"/>
              </a:rPr>
              <a:t> </a:t>
            </a:r>
            <a:r>
              <a:rPr lang="en-US" sz="1800" spc="-10">
                <a:solidFill>
                  <a:schemeClr val="tx1"/>
                </a:solidFill>
                <a:latin typeface="Times New Roman"/>
                <a:cs typeface="Times New Roman"/>
              </a:rPr>
              <a:t>and</a:t>
            </a:r>
            <a:r>
              <a:rPr lang="en-US" sz="1800" spc="160">
                <a:solidFill>
                  <a:schemeClr val="tx1"/>
                </a:solidFill>
                <a:latin typeface="Times New Roman"/>
                <a:cs typeface="Times New Roman"/>
              </a:rPr>
              <a:t> </a:t>
            </a:r>
            <a:r>
              <a:rPr lang="en-US" sz="1800" spc="-30">
                <a:solidFill>
                  <a:schemeClr val="tx1"/>
                </a:solidFill>
                <a:latin typeface="Times New Roman"/>
                <a:cs typeface="Times New Roman"/>
              </a:rPr>
              <a:t>slow</a:t>
            </a:r>
            <a:r>
              <a:rPr lang="en-US" sz="1800" spc="70">
                <a:solidFill>
                  <a:schemeClr val="tx1"/>
                </a:solidFill>
                <a:latin typeface="Times New Roman"/>
                <a:cs typeface="Times New Roman"/>
              </a:rPr>
              <a:t> </a:t>
            </a:r>
            <a:r>
              <a:rPr lang="en-US" sz="1800" spc="-10">
                <a:solidFill>
                  <a:schemeClr val="tx1"/>
                </a:solidFill>
                <a:latin typeface="Times New Roman"/>
                <a:cs typeface="Times New Roman"/>
              </a:rPr>
              <a:t>attack</a:t>
            </a:r>
            <a:r>
              <a:rPr lang="en-US" sz="1800" spc="85">
                <a:solidFill>
                  <a:schemeClr val="tx1"/>
                </a:solidFill>
                <a:latin typeface="Times New Roman"/>
                <a:cs typeface="Times New Roman"/>
              </a:rPr>
              <a:t> </a:t>
            </a:r>
            <a:r>
              <a:rPr lang="en-US" sz="1800">
                <a:solidFill>
                  <a:schemeClr val="tx1"/>
                </a:solidFill>
                <a:latin typeface="Times New Roman"/>
                <a:cs typeface="Times New Roman"/>
              </a:rPr>
              <a:t>tool,</a:t>
            </a:r>
            <a:r>
              <a:rPr lang="en-US" sz="1800" spc="80">
                <a:solidFill>
                  <a:schemeClr val="tx1"/>
                </a:solidFill>
                <a:latin typeface="Times New Roman"/>
                <a:cs typeface="Times New Roman"/>
              </a:rPr>
              <a:t> </a:t>
            </a:r>
            <a:r>
              <a:rPr lang="en-US" sz="1800">
                <a:solidFill>
                  <a:schemeClr val="tx1"/>
                </a:solidFill>
                <a:latin typeface="Times New Roman"/>
                <a:cs typeface="Times New Roman"/>
              </a:rPr>
              <a:t>Slow</a:t>
            </a:r>
            <a:r>
              <a:rPr lang="en-US" sz="1800" spc="70">
                <a:solidFill>
                  <a:schemeClr val="tx1"/>
                </a:solidFill>
                <a:latin typeface="Times New Roman"/>
                <a:cs typeface="Times New Roman"/>
              </a:rPr>
              <a:t> </a:t>
            </a:r>
            <a:r>
              <a:rPr lang="en-US" sz="1800" spc="5">
                <a:solidFill>
                  <a:schemeClr val="tx1"/>
                </a:solidFill>
                <a:latin typeface="Times New Roman"/>
                <a:cs typeface="Times New Roman"/>
              </a:rPr>
              <a:t>loris</a:t>
            </a:r>
            <a:r>
              <a:rPr lang="en-US" sz="1800" spc="-15">
                <a:solidFill>
                  <a:schemeClr val="tx1"/>
                </a:solidFill>
                <a:latin typeface="Times New Roman"/>
                <a:cs typeface="Times New Roman"/>
              </a:rPr>
              <a:t> </a:t>
            </a:r>
            <a:r>
              <a:rPr lang="en-US" sz="1800">
                <a:solidFill>
                  <a:schemeClr val="tx1"/>
                </a:solidFill>
                <a:latin typeface="Times New Roman"/>
                <a:cs typeface="Times New Roman"/>
              </a:rPr>
              <a:t>tool</a:t>
            </a:r>
            <a:r>
              <a:rPr lang="en-US" sz="1800" spc="90">
                <a:solidFill>
                  <a:schemeClr val="tx1"/>
                </a:solidFill>
                <a:latin typeface="Times New Roman"/>
                <a:cs typeface="Times New Roman"/>
              </a:rPr>
              <a:t> </a:t>
            </a:r>
            <a:r>
              <a:rPr lang="en-US" sz="1800" spc="-10">
                <a:solidFill>
                  <a:schemeClr val="tx1"/>
                </a:solidFill>
                <a:latin typeface="Times New Roman"/>
                <a:cs typeface="Times New Roman"/>
              </a:rPr>
              <a:t>and</a:t>
            </a:r>
            <a:r>
              <a:rPr lang="en-US" sz="1800" spc="85">
                <a:solidFill>
                  <a:schemeClr val="tx1"/>
                </a:solidFill>
                <a:latin typeface="Times New Roman"/>
                <a:cs typeface="Times New Roman"/>
              </a:rPr>
              <a:t> </a:t>
            </a:r>
            <a:r>
              <a:rPr lang="en-US" sz="1800" spc="-5">
                <a:solidFill>
                  <a:schemeClr val="tx1"/>
                </a:solidFill>
                <a:latin typeface="Times New Roman"/>
                <a:cs typeface="Times New Roman"/>
              </a:rPr>
              <a:t>R.U.D.Y(are </a:t>
            </a:r>
            <a:r>
              <a:rPr lang="en-US" sz="1800" spc="-585">
                <a:solidFill>
                  <a:schemeClr val="tx1"/>
                </a:solidFill>
                <a:latin typeface="Times New Roman"/>
                <a:cs typeface="Times New Roman"/>
              </a:rPr>
              <a:t> </a:t>
            </a:r>
            <a:r>
              <a:rPr lang="en-US" sz="1800">
                <a:solidFill>
                  <a:schemeClr val="tx1"/>
                </a:solidFill>
                <a:latin typeface="Times New Roman"/>
                <a:cs typeface="Times New Roman"/>
              </a:rPr>
              <a:t>u</a:t>
            </a:r>
            <a:r>
              <a:rPr lang="en-US" sz="1800" spc="-10">
                <a:solidFill>
                  <a:schemeClr val="tx1"/>
                </a:solidFill>
                <a:latin typeface="Times New Roman"/>
                <a:cs typeface="Times New Roman"/>
              </a:rPr>
              <a:t> dead</a:t>
            </a:r>
            <a:r>
              <a:rPr lang="en-US" sz="1800">
                <a:solidFill>
                  <a:schemeClr val="tx1"/>
                </a:solidFill>
                <a:latin typeface="Times New Roman"/>
                <a:cs typeface="Times New Roman"/>
              </a:rPr>
              <a:t> </a:t>
            </a:r>
            <a:r>
              <a:rPr lang="en-US" sz="1800" spc="-25">
                <a:solidFill>
                  <a:schemeClr val="tx1"/>
                </a:solidFill>
                <a:latin typeface="Times New Roman"/>
                <a:cs typeface="Times New Roman"/>
              </a:rPr>
              <a:t>yet?)</a:t>
            </a:r>
            <a:r>
              <a:rPr lang="en-US" sz="1800" spc="100">
                <a:solidFill>
                  <a:schemeClr val="tx1"/>
                </a:solidFill>
                <a:latin typeface="Times New Roman"/>
                <a:cs typeface="Times New Roman"/>
              </a:rPr>
              <a:t> </a:t>
            </a:r>
            <a:r>
              <a:rPr lang="en-US" sz="1800">
                <a:solidFill>
                  <a:schemeClr val="tx1"/>
                </a:solidFill>
                <a:latin typeface="Times New Roman"/>
                <a:cs typeface="Times New Roman"/>
              </a:rPr>
              <a:t>tool.</a:t>
            </a:r>
          </a:p>
          <a:p>
            <a:pPr marL="0" indent="0" algn="just">
              <a:lnSpc>
                <a:spcPct val="150000"/>
              </a:lnSpc>
              <a:buNone/>
            </a:pPr>
            <a:endParaRPr lang="en-US" altLang="en-US" b="1" dirty="0">
              <a:solidFill>
                <a:schemeClr val="tx1"/>
              </a:solidFill>
              <a:effectLst/>
              <a:latin typeface="Times New Roman" panose="02020603050405020304" pitchFamily="18" charset="0"/>
              <a:cs typeface="Times New Roman" panose="02020603050405020304" pitchFamily="18" charset="0"/>
              <a:sym typeface="+mn-ea"/>
            </a:endParaRPr>
          </a:p>
        </p:txBody>
      </p:sp>
      <p:sp>
        <p:nvSpPr>
          <p:cNvPr id="4" name="Footer Placeholder 3">
            <a:extLst>
              <a:ext uri="{FF2B5EF4-FFF2-40B4-BE49-F238E27FC236}">
                <a16:creationId xmlns:a16="http://schemas.microsoft.com/office/drawing/2014/main" id="{7C169C2F-8C05-9AAD-E866-DC8A4055F949}"/>
              </a:ext>
            </a:extLst>
          </p:cNvPr>
          <p:cNvSpPr>
            <a:spLocks noGrp="1"/>
          </p:cNvSpPr>
          <p:nvPr>
            <p:ph type="ftr" sz="quarter" idx="11"/>
          </p:nvPr>
        </p:nvSpPr>
        <p:spPr>
          <a:xfrm>
            <a:off x="609599" y="6298482"/>
            <a:ext cx="7568486" cy="365125"/>
          </a:xfrm>
        </p:spPr>
        <p:txBody>
          <a:bodyPr/>
          <a:lstStyle/>
          <a:p>
            <a:r>
              <a:rPr lang="en-IN" sz="1200" b="1">
                <a:solidFill>
                  <a:srgbClr val="0000FF"/>
                </a:solidFill>
                <a:latin typeface="Times New Roman" panose="02020603050405020304" pitchFamily="18" charset="0"/>
                <a:cs typeface="Times New Roman" panose="02020603050405020304" pitchFamily="18" charset="0"/>
              </a:rPr>
              <a:t>Dept. of ISE, 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5" name="Text Box 4">
            <a:extLst>
              <a:ext uri="{FF2B5EF4-FFF2-40B4-BE49-F238E27FC236}">
                <a16:creationId xmlns:a16="http://schemas.microsoft.com/office/drawing/2014/main" id="{2EF75971-6DD1-1E7C-A237-7CF91097239F}"/>
              </a:ext>
            </a:extLst>
          </p:cNvPr>
          <p:cNvSpPr txBox="1"/>
          <p:nvPr/>
        </p:nvSpPr>
        <p:spPr>
          <a:xfrm>
            <a:off x="2286000" y="107505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52055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48992"/>
            <a:ext cx="6347713" cy="884349"/>
          </a:xfrm>
        </p:spPr>
        <p:txBody>
          <a:bodyPr>
            <a:norm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OBJECTIVES</a:t>
            </a:r>
          </a:p>
        </p:txBody>
      </p:sp>
      <p:sp>
        <p:nvSpPr>
          <p:cNvPr id="6" name="Rectangle 1">
            <a:extLst>
              <a:ext uri="{FF2B5EF4-FFF2-40B4-BE49-F238E27FC236}">
                <a16:creationId xmlns:a16="http://schemas.microsoft.com/office/drawing/2014/main" id="{C3AB8E3D-4FB1-2F9F-15C0-3FD081DD3648}"/>
              </a:ext>
            </a:extLst>
          </p:cNvPr>
          <p:cNvSpPr>
            <a:spLocks noGrp="1" noChangeArrowheads="1"/>
          </p:cNvSpPr>
          <p:nvPr>
            <p:ph idx="1"/>
          </p:nvPr>
        </p:nvSpPr>
        <p:spPr bwMode="auto">
          <a:xfrm>
            <a:off x="408038" y="833293"/>
            <a:ext cx="8327923" cy="482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200000"/>
              </a:lnSpc>
              <a:buClr>
                <a:schemeClr val="tx1"/>
              </a:buClr>
              <a:buFont typeface="Arial" panose="020B0604020202020204" pitchFamily="34" charset="0"/>
              <a:buChar char="•"/>
              <a:defRPr/>
            </a:pPr>
            <a:r>
              <a:rPr lang="en-IN" altLang="en-US" sz="1800" b="1">
                <a:solidFill>
                  <a:schemeClr val="dk1"/>
                </a:solidFill>
                <a:effectLst/>
                <a:latin typeface="Times New Roman" panose="02020603050405020304" pitchFamily="18" charset="0"/>
                <a:cs typeface="Times New Roman" panose="02020603050405020304" pitchFamily="18" charset="0"/>
                <a:sym typeface="+mn-ea"/>
              </a:rPr>
              <a:t> </a:t>
            </a:r>
            <a:r>
              <a:rPr lang="en-US" sz="1800">
                <a:latin typeface="Times New Roman"/>
                <a:ea typeface="+mn-lt"/>
                <a:cs typeface="+mn-lt"/>
              </a:rPr>
              <a:t>To investigate the impact of easily accessible DDoS attack tools on the rise of  DDoS attacks.</a:t>
            </a:r>
            <a:endParaRPr lang="en-US" sz="1800">
              <a:latin typeface="Times New Roman"/>
              <a:cs typeface="Times New Roman"/>
            </a:endParaRPr>
          </a:p>
          <a:p>
            <a:pPr algn="just">
              <a:lnSpc>
                <a:spcPct val="200000"/>
              </a:lnSpc>
              <a:buClr>
                <a:schemeClr val="tx1"/>
              </a:buClr>
              <a:buFont typeface="Arial" panose="020B0604020202020204" pitchFamily="34" charset="0"/>
              <a:buChar char="•"/>
              <a:defRPr/>
            </a:pPr>
            <a:r>
              <a:rPr lang="en-US" sz="1800">
                <a:latin typeface="Times New Roman"/>
                <a:ea typeface="+mn-lt"/>
                <a:cs typeface="+mn-lt"/>
              </a:rPr>
              <a:t>To propose a machine learning model to detect such attacks with high accuracy and efficiency.</a:t>
            </a:r>
            <a:endParaRPr lang="en-US" sz="1800">
              <a:latin typeface="Times New Roman"/>
              <a:cs typeface="Times New Roman"/>
            </a:endParaRPr>
          </a:p>
          <a:p>
            <a:pPr algn="just">
              <a:lnSpc>
                <a:spcPct val="200000"/>
              </a:lnSpc>
              <a:buClr>
                <a:schemeClr val="tx1"/>
              </a:buClr>
              <a:buFont typeface="Arial" panose="020B0604020202020204" pitchFamily="34" charset="0"/>
              <a:buChar char="•"/>
              <a:defRPr/>
            </a:pPr>
            <a:r>
              <a:rPr lang="en-US" sz="1800">
                <a:latin typeface="Times New Roman"/>
                <a:ea typeface="+mn-lt"/>
                <a:cs typeface="+mn-lt"/>
              </a:rPr>
              <a:t>To demonstrate the effectiveness of the model through evaluation metrics like accuracy, precision, recall, and F1 score.</a:t>
            </a:r>
            <a:endParaRPr lang="en-US" sz="1800">
              <a:latin typeface="Times New Roman"/>
              <a:cs typeface="Times New Roman"/>
            </a:endParaRPr>
          </a:p>
          <a:p>
            <a:pPr algn="just">
              <a:lnSpc>
                <a:spcPct val="200000"/>
              </a:lnSpc>
              <a:buClr>
                <a:schemeClr val="tx1"/>
              </a:buClr>
              <a:buFont typeface="Arial" panose="020B0604020202020204" pitchFamily="34" charset="0"/>
              <a:buChar char="•"/>
              <a:defRPr/>
            </a:pPr>
            <a:r>
              <a:rPr lang="en-US" sz="1800">
                <a:latin typeface="Times New Roman"/>
                <a:ea typeface="+mn-lt"/>
                <a:cs typeface="+mn-lt"/>
              </a:rPr>
              <a:t>To highlight the importance of feature selection in improving the model's efficiency.</a:t>
            </a:r>
            <a:endParaRPr lang="en-US" sz="1800">
              <a:latin typeface="Times New Roman"/>
              <a:cs typeface="Times New Roman"/>
            </a:endParaRPr>
          </a:p>
          <a:p>
            <a:pPr marL="0" marR="0" lvl="0" indent="0" algn="l" defTabSz="914400" rtl="0" eaLnBrk="0" fontAlgn="base" latinLnBrk="0" hangingPunct="0">
              <a:lnSpc>
                <a:spcPct val="2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2286000" y="111442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E0A9569-6FC4-FE1F-8D88-C0CFF00844CC}"/>
              </a:ext>
            </a:extLst>
          </p:cNvPr>
          <p:cNvSpPr>
            <a:spLocks noGrp="1"/>
          </p:cNvSpPr>
          <p:nvPr>
            <p:ph type="ftr" sz="quarter" idx="11"/>
          </p:nvPr>
        </p:nvSpPr>
        <p:spPr/>
        <p:txBody>
          <a:bodyPr/>
          <a:lstStyle/>
          <a:p>
            <a:r>
              <a:rPr lang="en-IN"/>
              <a:t>Dept. of ISE, RRCE                                                                                                                                                     2019-20</a:t>
            </a:r>
            <a:endParaRPr lang="en-US" dirty="0"/>
          </a:p>
        </p:txBody>
      </p:sp>
      <p:pic>
        <p:nvPicPr>
          <p:cNvPr id="3" name="Picture 2">
            <a:extLst>
              <a:ext uri="{FF2B5EF4-FFF2-40B4-BE49-F238E27FC236}">
                <a16:creationId xmlns:a16="http://schemas.microsoft.com/office/drawing/2014/main" id="{DAE8798F-4C41-0FCD-4069-6B415C2A6621}"/>
              </a:ext>
            </a:extLst>
          </p:cNvPr>
          <p:cNvPicPr>
            <a:picLocks noChangeAspect="1"/>
          </p:cNvPicPr>
          <p:nvPr/>
        </p:nvPicPr>
        <p:blipFill>
          <a:blip r:embed="rId2"/>
          <a:stretch>
            <a:fillRect/>
          </a:stretch>
        </p:blipFill>
        <p:spPr>
          <a:xfrm>
            <a:off x="810442" y="3243056"/>
            <a:ext cx="7523116" cy="371888"/>
          </a:xfrm>
          <a:prstGeom prst="rect">
            <a:avLst/>
          </a:prstGeom>
        </p:spPr>
      </p:pic>
      <p:pic>
        <p:nvPicPr>
          <p:cNvPr id="6" name="Picture 5">
            <a:extLst>
              <a:ext uri="{FF2B5EF4-FFF2-40B4-BE49-F238E27FC236}">
                <a16:creationId xmlns:a16="http://schemas.microsoft.com/office/drawing/2014/main" id="{92F00DB9-25F5-CB1A-75FD-5D1155052612}"/>
              </a:ext>
            </a:extLst>
          </p:cNvPr>
          <p:cNvPicPr>
            <a:picLocks noChangeAspect="1"/>
          </p:cNvPicPr>
          <p:nvPr/>
        </p:nvPicPr>
        <p:blipFill>
          <a:blip r:embed="rId3"/>
          <a:stretch>
            <a:fillRect/>
          </a:stretch>
        </p:blipFill>
        <p:spPr>
          <a:xfrm>
            <a:off x="609599" y="548639"/>
            <a:ext cx="6405015" cy="4574031"/>
          </a:xfrm>
          <a:prstGeom prst="rect">
            <a:avLst/>
          </a:prstGeom>
        </p:spPr>
      </p:pic>
      <p:pic>
        <p:nvPicPr>
          <p:cNvPr id="7" name="Picture 6">
            <a:extLst>
              <a:ext uri="{FF2B5EF4-FFF2-40B4-BE49-F238E27FC236}">
                <a16:creationId xmlns:a16="http://schemas.microsoft.com/office/drawing/2014/main" id="{5324DB14-A2C8-5374-C01B-CDC1B19CB9D8}"/>
              </a:ext>
            </a:extLst>
          </p:cNvPr>
          <p:cNvPicPr>
            <a:picLocks noChangeAspect="1"/>
          </p:cNvPicPr>
          <p:nvPr/>
        </p:nvPicPr>
        <p:blipFill>
          <a:blip r:embed="rId2"/>
          <a:stretch>
            <a:fillRect/>
          </a:stretch>
        </p:blipFill>
        <p:spPr>
          <a:xfrm>
            <a:off x="609599" y="5396072"/>
            <a:ext cx="7523116" cy="371888"/>
          </a:xfrm>
          <a:prstGeom prst="rect">
            <a:avLst/>
          </a:prstGeom>
        </p:spPr>
      </p:pic>
      <p:pic>
        <p:nvPicPr>
          <p:cNvPr id="11" name="Picture 10">
            <a:extLst>
              <a:ext uri="{FF2B5EF4-FFF2-40B4-BE49-F238E27FC236}">
                <a16:creationId xmlns:a16="http://schemas.microsoft.com/office/drawing/2014/main" id="{95E65FF5-D98E-4843-6EAA-F966A3A90245}"/>
              </a:ext>
            </a:extLst>
          </p:cNvPr>
          <p:cNvPicPr>
            <a:picLocks noChangeAspect="1"/>
          </p:cNvPicPr>
          <p:nvPr/>
        </p:nvPicPr>
        <p:blipFill>
          <a:blip r:embed="rId2"/>
          <a:stretch>
            <a:fillRect/>
          </a:stretch>
        </p:blipFill>
        <p:spPr>
          <a:xfrm>
            <a:off x="609599" y="5318701"/>
            <a:ext cx="7523116" cy="371888"/>
          </a:xfrm>
          <a:prstGeom prst="rect">
            <a:avLst/>
          </a:prstGeom>
        </p:spPr>
      </p:pic>
      <p:sp>
        <p:nvSpPr>
          <p:cNvPr id="14" name="TextBox 13">
            <a:extLst>
              <a:ext uri="{FF2B5EF4-FFF2-40B4-BE49-F238E27FC236}">
                <a16:creationId xmlns:a16="http://schemas.microsoft.com/office/drawing/2014/main" id="{3682A83C-B464-C54F-D460-82BDE5EBD440}"/>
              </a:ext>
            </a:extLst>
          </p:cNvPr>
          <p:cNvSpPr txBox="1"/>
          <p:nvPr/>
        </p:nvSpPr>
        <p:spPr>
          <a:xfrm>
            <a:off x="609599" y="5420550"/>
            <a:ext cx="4587240" cy="369332"/>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FIG 1: Proposed Block Diagram</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621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48992"/>
            <a:ext cx="6347713" cy="884349"/>
          </a:xfrm>
        </p:spPr>
        <p:txBody>
          <a:bodyPr>
            <a:norm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METHODOLOGY</a:t>
            </a:r>
          </a:p>
        </p:txBody>
      </p:sp>
      <p:sp>
        <p:nvSpPr>
          <p:cNvPr id="7" name="Rectangle 1">
            <a:extLst>
              <a:ext uri="{FF2B5EF4-FFF2-40B4-BE49-F238E27FC236}">
                <a16:creationId xmlns:a16="http://schemas.microsoft.com/office/drawing/2014/main" id="{93C14B29-F51E-EA67-1B7A-14DB738355AB}"/>
              </a:ext>
            </a:extLst>
          </p:cNvPr>
          <p:cNvSpPr>
            <a:spLocks noGrp="1" noChangeArrowheads="1"/>
          </p:cNvSpPr>
          <p:nvPr>
            <p:ph idx="1"/>
          </p:nvPr>
        </p:nvSpPr>
        <p:spPr bwMode="auto">
          <a:xfrm>
            <a:off x="847926" y="873498"/>
            <a:ext cx="7568486" cy="53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700" marR="297815" algn="just">
              <a:lnSpc>
                <a:spcPct val="111000"/>
              </a:lnSpc>
              <a:spcBef>
                <a:spcPts val="130"/>
              </a:spcBef>
              <a:buClr>
                <a:schemeClr val="tx1"/>
              </a:buClr>
              <a:buFont typeface="Arial" panose="020B0604020202020204" pitchFamily="34" charset="0"/>
              <a:buChar char="•"/>
              <a:tabLst>
                <a:tab pos="165100" algn="l"/>
              </a:tabLst>
            </a:pPr>
            <a:r>
              <a:rPr lang="en-US" sz="1800" spc="-5">
                <a:solidFill>
                  <a:schemeClr val="tx1"/>
                </a:solidFill>
                <a:latin typeface="Times New Roman" panose="02020603050405020304" pitchFamily="18" charset="0"/>
                <a:cs typeface="Times New Roman" panose="02020603050405020304" pitchFamily="18" charset="0"/>
              </a:rPr>
              <a:t>According to </a:t>
            </a:r>
            <a:r>
              <a:rPr lang="en-US" sz="1800">
                <a:solidFill>
                  <a:schemeClr val="tx1"/>
                </a:solidFill>
                <a:latin typeface="Times New Roman" panose="02020603050405020304" pitchFamily="18" charset="0"/>
                <a:cs typeface="Times New Roman" panose="02020603050405020304" pitchFamily="18" charset="0"/>
              </a:rPr>
              <a:t>our </a:t>
            </a:r>
            <a:r>
              <a:rPr lang="en-US" sz="1800" spc="-5">
                <a:solidFill>
                  <a:schemeClr val="tx1"/>
                </a:solidFill>
                <a:latin typeface="Times New Roman" panose="02020603050405020304" pitchFamily="18" charset="0"/>
                <a:cs typeface="Times New Roman" panose="02020603050405020304" pitchFamily="18" charset="0"/>
              </a:rPr>
              <a:t>project, </a:t>
            </a:r>
            <a:r>
              <a:rPr lang="en-US" sz="1800" spc="5">
                <a:solidFill>
                  <a:schemeClr val="tx1"/>
                </a:solidFill>
                <a:latin typeface="Times New Roman" panose="02020603050405020304" pitchFamily="18" charset="0"/>
                <a:cs typeface="Times New Roman" panose="02020603050405020304" pitchFamily="18" charset="0"/>
              </a:rPr>
              <a:t>ML can </a:t>
            </a:r>
            <a:r>
              <a:rPr lang="en-US" sz="1800" spc="-10">
                <a:solidFill>
                  <a:schemeClr val="tx1"/>
                </a:solidFill>
                <a:latin typeface="Times New Roman" panose="02020603050405020304" pitchFamily="18" charset="0"/>
                <a:cs typeface="Times New Roman" panose="02020603050405020304" pitchFamily="18" charset="0"/>
              </a:rPr>
              <a:t>be utilized </a:t>
            </a:r>
            <a:r>
              <a:rPr lang="en-US" sz="1800" spc="-5">
                <a:solidFill>
                  <a:schemeClr val="tx1"/>
                </a:solidFill>
                <a:latin typeface="Times New Roman" panose="02020603050405020304" pitchFamily="18" charset="0"/>
                <a:cs typeface="Times New Roman" panose="02020603050405020304" pitchFamily="18" charset="0"/>
              </a:rPr>
              <a:t>to </a:t>
            </a:r>
            <a:r>
              <a:rPr lang="en-US" sz="1800" spc="5">
                <a:solidFill>
                  <a:schemeClr val="tx1"/>
                </a:solidFill>
                <a:latin typeface="Times New Roman" panose="02020603050405020304" pitchFamily="18" charset="0"/>
                <a:cs typeface="Times New Roman" panose="02020603050405020304" pitchFamily="18" charset="0"/>
              </a:rPr>
              <a:t>successfully classify </a:t>
            </a:r>
            <a:r>
              <a:rPr lang="en-US" sz="1800">
                <a:solidFill>
                  <a:schemeClr val="tx1"/>
                </a:solidFill>
                <a:latin typeface="Times New Roman" panose="02020603050405020304" pitchFamily="18" charset="0"/>
                <a:cs typeface="Times New Roman" panose="02020603050405020304" pitchFamily="18" charset="0"/>
              </a:rPr>
              <a:t>DDoS </a:t>
            </a:r>
            <a:r>
              <a:rPr lang="en-US" sz="1800" spc="-15">
                <a:solidFill>
                  <a:schemeClr val="tx1"/>
                </a:solidFill>
                <a:latin typeface="Times New Roman" panose="02020603050405020304" pitchFamily="18" charset="0"/>
                <a:cs typeface="Times New Roman" panose="02020603050405020304" pitchFamily="18" charset="0"/>
              </a:rPr>
              <a:t>tools </a:t>
            </a:r>
            <a:r>
              <a:rPr lang="en-US" sz="1800" spc="-10">
                <a:solidFill>
                  <a:schemeClr val="tx1"/>
                </a:solidFill>
                <a:latin typeface="Times New Roman" panose="02020603050405020304" pitchFamily="18" charset="0"/>
                <a:cs typeface="Times New Roman" panose="02020603050405020304" pitchFamily="18" charset="0"/>
              </a:rPr>
              <a:t>into </a:t>
            </a:r>
            <a:r>
              <a:rPr lang="en-US" sz="1800" spc="10">
                <a:solidFill>
                  <a:schemeClr val="tx1"/>
                </a:solidFill>
                <a:latin typeface="Times New Roman" panose="02020603050405020304" pitchFamily="18" charset="0"/>
                <a:cs typeface="Times New Roman" panose="02020603050405020304" pitchFamily="18" charset="0"/>
              </a:rPr>
              <a:t>a </a:t>
            </a:r>
            <a:r>
              <a:rPr lang="en-US" sz="1800" spc="-15">
                <a:solidFill>
                  <a:schemeClr val="tx1"/>
                </a:solidFill>
                <a:latin typeface="Times New Roman" panose="02020603050405020304" pitchFamily="18" charset="0"/>
                <a:cs typeface="Times New Roman" panose="02020603050405020304" pitchFamily="18" charset="0"/>
              </a:rPr>
              <a:t>total </a:t>
            </a:r>
            <a:r>
              <a:rPr lang="en-US" sz="1800" spc="-10">
                <a:solidFill>
                  <a:schemeClr val="tx1"/>
                </a:solidFill>
                <a:latin typeface="Times New Roman" panose="02020603050405020304" pitchFamily="18" charset="0"/>
                <a:cs typeface="Times New Roman" panose="02020603050405020304" pitchFamily="18" charset="0"/>
              </a:rPr>
              <a:t>of </a:t>
            </a:r>
            <a:r>
              <a:rPr lang="en-US" sz="1800">
                <a:solidFill>
                  <a:schemeClr val="tx1"/>
                </a:solidFill>
                <a:latin typeface="Times New Roman" panose="02020603050405020304" pitchFamily="18" charset="0"/>
                <a:cs typeface="Times New Roman" panose="02020603050405020304" pitchFamily="18" charset="0"/>
              </a:rPr>
              <a:t>five </a:t>
            </a:r>
            <a:r>
              <a:rPr lang="en-US" sz="1800" spc="-39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different </a:t>
            </a:r>
            <a:r>
              <a:rPr lang="en-US" sz="1800" spc="-10">
                <a:solidFill>
                  <a:schemeClr val="tx1"/>
                </a:solidFill>
                <a:latin typeface="Times New Roman" panose="02020603050405020304" pitchFamily="18" charset="0"/>
                <a:cs typeface="Times New Roman" panose="02020603050405020304" pitchFamily="18" charset="0"/>
              </a:rPr>
              <a:t>categories; </a:t>
            </a:r>
            <a:r>
              <a:rPr lang="en-US" sz="1800" spc="5">
                <a:solidFill>
                  <a:schemeClr val="tx1"/>
                </a:solidFill>
                <a:latin typeface="Times New Roman" panose="02020603050405020304" pitchFamily="18" charset="0"/>
                <a:cs typeface="Times New Roman" panose="02020603050405020304" pitchFamily="18" charset="0"/>
              </a:rPr>
              <a:t>four </a:t>
            </a:r>
            <a:r>
              <a:rPr lang="en-US" sz="1800" spc="-10">
                <a:solidFill>
                  <a:schemeClr val="tx1"/>
                </a:solidFill>
                <a:latin typeface="Times New Roman" panose="02020603050405020304" pitchFamily="18" charset="0"/>
                <a:cs typeface="Times New Roman" panose="02020603050405020304" pitchFamily="18" charset="0"/>
              </a:rPr>
              <a:t>of these </a:t>
            </a:r>
            <a:r>
              <a:rPr lang="en-US" sz="1800">
                <a:solidFill>
                  <a:schemeClr val="tx1"/>
                </a:solidFill>
                <a:latin typeface="Times New Roman" panose="02020603050405020304" pitchFamily="18" charset="0"/>
                <a:cs typeface="Times New Roman" panose="02020603050405020304" pitchFamily="18" charset="0"/>
              </a:rPr>
              <a:t>classes </a:t>
            </a:r>
            <a:r>
              <a:rPr lang="en-US" sz="1800" spc="-10">
                <a:solidFill>
                  <a:schemeClr val="tx1"/>
                </a:solidFill>
                <a:latin typeface="Times New Roman" panose="02020603050405020304" pitchFamily="18" charset="0"/>
                <a:cs typeface="Times New Roman" panose="02020603050405020304" pitchFamily="18" charset="0"/>
              </a:rPr>
              <a:t>pertain </a:t>
            </a:r>
            <a:r>
              <a:rPr lang="en-US" sz="1800" spc="-5">
                <a:solidFill>
                  <a:schemeClr val="tx1"/>
                </a:solidFill>
                <a:latin typeface="Times New Roman" panose="02020603050405020304" pitchFamily="18" charset="0"/>
                <a:cs typeface="Times New Roman" panose="02020603050405020304" pitchFamily="18" charset="0"/>
              </a:rPr>
              <a:t>to </a:t>
            </a:r>
            <a:r>
              <a:rPr lang="en-US" sz="1800">
                <a:solidFill>
                  <a:schemeClr val="tx1"/>
                </a:solidFill>
                <a:latin typeface="Times New Roman" panose="02020603050405020304" pitchFamily="18" charset="0"/>
                <a:cs typeface="Times New Roman" panose="02020603050405020304" pitchFamily="18" charset="0"/>
              </a:rPr>
              <a:t>DDoS </a:t>
            </a:r>
            <a:r>
              <a:rPr lang="en-US" sz="1800" spc="-15">
                <a:solidFill>
                  <a:schemeClr val="tx1"/>
                </a:solidFill>
                <a:latin typeface="Times New Roman" panose="02020603050405020304" pitchFamily="18" charset="0"/>
                <a:cs typeface="Times New Roman" panose="02020603050405020304" pitchFamily="18" charset="0"/>
              </a:rPr>
              <a:t>tool</a:t>
            </a:r>
            <a:r>
              <a:rPr lang="en-US" sz="1800" spc="-1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attacks, </a:t>
            </a:r>
            <a:r>
              <a:rPr lang="en-US" sz="1800">
                <a:solidFill>
                  <a:schemeClr val="tx1"/>
                </a:solidFill>
                <a:latin typeface="Times New Roman" panose="02020603050405020304" pitchFamily="18" charset="0"/>
                <a:cs typeface="Times New Roman" panose="02020603050405020304" pitchFamily="18" charset="0"/>
              </a:rPr>
              <a:t>and </a:t>
            </a:r>
            <a:r>
              <a:rPr lang="en-US" sz="1800" spc="-10">
                <a:solidFill>
                  <a:schemeClr val="tx1"/>
                </a:solidFill>
                <a:latin typeface="Times New Roman" panose="02020603050405020304" pitchFamily="18" charset="0"/>
                <a:cs typeface="Times New Roman" panose="02020603050405020304" pitchFamily="18" charset="0"/>
              </a:rPr>
              <a:t>the remaining </a:t>
            </a:r>
            <a:r>
              <a:rPr lang="en-US" sz="1800">
                <a:solidFill>
                  <a:schemeClr val="tx1"/>
                </a:solidFill>
                <a:latin typeface="Times New Roman" panose="02020603050405020304" pitchFamily="18" charset="0"/>
                <a:cs typeface="Times New Roman" panose="02020603050405020304" pitchFamily="18" charset="0"/>
              </a:rPr>
              <a:t>class </a:t>
            </a:r>
            <a:r>
              <a:rPr lang="en-US" sz="1800" spc="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contains</a:t>
            </a:r>
            <a:r>
              <a:rPr lang="en-US" sz="1800" spc="-3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innocuous</a:t>
            </a:r>
            <a:r>
              <a:rPr lang="en-US" sz="1800" spc="-20">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data.</a:t>
            </a:r>
          </a:p>
          <a:p>
            <a:pPr marL="12700" marR="297815" algn="just">
              <a:lnSpc>
                <a:spcPct val="111000"/>
              </a:lnSpc>
              <a:spcBef>
                <a:spcPts val="130"/>
              </a:spcBef>
              <a:buClr>
                <a:schemeClr val="tx1"/>
              </a:buClr>
              <a:buFont typeface="Wingdings" panose="05000000000000000000" pitchFamily="2" charset="2"/>
              <a:buChar char="v"/>
              <a:tabLst>
                <a:tab pos="165100" algn="l"/>
              </a:tabLst>
            </a:pPr>
            <a:endParaRPr lang="en-US" sz="1800">
              <a:solidFill>
                <a:schemeClr val="tx1"/>
              </a:solidFill>
              <a:latin typeface="Times New Roman" panose="02020603050405020304" pitchFamily="18" charset="0"/>
              <a:cs typeface="Times New Roman" panose="02020603050405020304" pitchFamily="18" charset="0"/>
            </a:endParaRPr>
          </a:p>
          <a:p>
            <a:pPr marL="12700" marR="297815" algn="just">
              <a:lnSpc>
                <a:spcPct val="111000"/>
              </a:lnSpc>
              <a:spcBef>
                <a:spcPts val="130"/>
              </a:spcBef>
              <a:buClr>
                <a:schemeClr val="tx1"/>
              </a:buClr>
              <a:buFont typeface="Arial" panose="020B0604020202020204" pitchFamily="34" charset="0"/>
              <a:buChar char="•"/>
              <a:tabLst>
                <a:tab pos="165100" algn="l"/>
              </a:tabLst>
            </a:pPr>
            <a:r>
              <a:rPr lang="en-US" sz="1800" spc="10">
                <a:solidFill>
                  <a:schemeClr val="tx1"/>
                </a:solidFill>
                <a:latin typeface="Times New Roman" panose="02020603050405020304" pitchFamily="18" charset="0"/>
                <a:cs typeface="Times New Roman" panose="02020603050405020304" pitchFamily="18" charset="0"/>
              </a:rPr>
              <a:t>By</a:t>
            </a:r>
            <a:r>
              <a:rPr lang="en-US" sz="1800" spc="-3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establishing</a:t>
            </a:r>
            <a:r>
              <a:rPr lang="en-US" sz="1800" spc="10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a</a:t>
            </a:r>
            <a:r>
              <a:rPr lang="en-US" sz="1800" spc="-4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fast</a:t>
            </a:r>
            <a:r>
              <a:rPr lang="en-US" sz="1800" spc="-45">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and</a:t>
            </a:r>
            <a:r>
              <a:rPr lang="en-US" sz="1800" spc="1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reliable</a:t>
            </a:r>
            <a:r>
              <a:rPr lang="en-US" sz="1800" spc="9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technique</a:t>
            </a:r>
            <a:r>
              <a:rPr lang="en-US" sz="1800" spc="1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for</a:t>
            </a:r>
            <a:r>
              <a:rPr lang="en-US" sz="1800" spc="-2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selecting</a:t>
            </a:r>
            <a:r>
              <a:rPr lang="en-US" sz="1800" spc="2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the</a:t>
            </a:r>
            <a:r>
              <a:rPr lang="en-US" sz="1800" spc="1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features,</a:t>
            </a:r>
            <a:r>
              <a:rPr lang="en-US" sz="1800" spc="4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we</a:t>
            </a:r>
            <a:r>
              <a:rPr lang="en-US" sz="1800" spc="15">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were</a:t>
            </a:r>
            <a:r>
              <a:rPr lang="en-US" sz="1800" spc="1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able</a:t>
            </a:r>
            <a:r>
              <a:rPr lang="en-US" sz="1800" spc="1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to</a:t>
            </a:r>
            <a:r>
              <a:rPr lang="en-US" sz="1800" spc="2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cut</a:t>
            </a:r>
            <a:r>
              <a:rPr lang="en-US" sz="1800" spc="-5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the</a:t>
            </a:r>
            <a:r>
              <a:rPr lang="en-US" sz="1800" spc="1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total</a:t>
            </a:r>
            <a:r>
              <a:rPr lang="en-US" sz="180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number</a:t>
            </a:r>
            <a:r>
              <a:rPr lang="en-US" sz="1800" spc="4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of</a:t>
            </a:r>
            <a:r>
              <a:rPr lang="en-US" sz="1800">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options</a:t>
            </a:r>
            <a:r>
              <a:rPr lang="en-US" sz="1800" spc="5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available</a:t>
            </a:r>
            <a:r>
              <a:rPr lang="en-US" sz="1800" spc="9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in</a:t>
            </a:r>
            <a:r>
              <a:rPr lang="en-US" sz="1800" spc="-45">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our</a:t>
            </a:r>
            <a:r>
              <a:rPr lang="en-US" sz="1800" spc="4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model</a:t>
            </a:r>
            <a:r>
              <a:rPr lang="en-US" sz="1800" spc="3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from</a:t>
            </a:r>
            <a:r>
              <a:rPr lang="en-US" sz="1800" spc="-55">
                <a:solidFill>
                  <a:schemeClr val="tx1"/>
                </a:solidFill>
                <a:latin typeface="Times New Roman" panose="02020603050405020304" pitchFamily="18" charset="0"/>
                <a:cs typeface="Times New Roman" panose="02020603050405020304" pitchFamily="18" charset="0"/>
              </a:rPr>
              <a:t> </a:t>
            </a:r>
            <a:r>
              <a:rPr lang="en-US" sz="1800" spc="25">
                <a:solidFill>
                  <a:schemeClr val="tx1"/>
                </a:solidFill>
                <a:latin typeface="Times New Roman" panose="02020603050405020304" pitchFamily="18" charset="0"/>
                <a:cs typeface="Times New Roman" panose="02020603050405020304" pitchFamily="18" charset="0"/>
              </a:rPr>
              <a:t>78</a:t>
            </a:r>
            <a:r>
              <a:rPr lang="en-US" sz="1800" spc="-1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to</a:t>
            </a:r>
            <a:r>
              <a:rPr lang="en-US" sz="1800" spc="1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11-12.</a:t>
            </a:r>
            <a:endParaRPr lang="en-US" sz="1800">
              <a:solidFill>
                <a:schemeClr val="tx1"/>
              </a:solidFill>
              <a:latin typeface="Times New Roman" panose="02020603050405020304" pitchFamily="18" charset="0"/>
              <a:cs typeface="Times New Roman" panose="02020603050405020304" pitchFamily="18" charset="0"/>
            </a:endParaRPr>
          </a:p>
          <a:p>
            <a:pPr marL="354965" algn="just">
              <a:lnSpc>
                <a:spcPct val="100000"/>
              </a:lnSpc>
              <a:spcBef>
                <a:spcPts val="2030"/>
              </a:spcBef>
              <a:buClr>
                <a:schemeClr val="tx1"/>
              </a:buClr>
              <a:buFont typeface="Arial" panose="020B0604020202020204" pitchFamily="34" charset="0"/>
              <a:buChar char="•"/>
              <a:tabLst>
                <a:tab pos="165100" algn="l"/>
              </a:tabLst>
            </a:pPr>
            <a:r>
              <a:rPr lang="en-US" sz="1800" spc="15">
                <a:solidFill>
                  <a:schemeClr val="tx1"/>
                </a:solidFill>
                <a:latin typeface="Times New Roman" panose="02020603050405020304" pitchFamily="18" charset="0"/>
                <a:cs typeface="Times New Roman" panose="02020603050405020304" pitchFamily="18" charset="0"/>
              </a:rPr>
              <a:t>Our</a:t>
            </a:r>
            <a:r>
              <a:rPr lang="en-US" sz="1800" spc="-2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model</a:t>
            </a:r>
            <a:r>
              <a:rPr lang="en-US" sz="1800" spc="3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has</a:t>
            </a:r>
            <a:r>
              <a:rPr lang="en-US" sz="1800" spc="5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a</a:t>
            </a:r>
            <a:r>
              <a:rPr lang="en-US" sz="1800" spc="-4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high</a:t>
            </a:r>
            <a:r>
              <a:rPr lang="en-US" sz="1800" spc="25">
                <a:solidFill>
                  <a:schemeClr val="tx1"/>
                </a:solidFill>
                <a:latin typeface="Times New Roman" panose="02020603050405020304" pitchFamily="18" charset="0"/>
                <a:cs typeface="Times New Roman" panose="02020603050405020304" pitchFamily="18" charset="0"/>
              </a:rPr>
              <a:t> </a:t>
            </a:r>
            <a:r>
              <a:rPr lang="en-US" sz="1800" spc="-20">
                <a:solidFill>
                  <a:schemeClr val="tx1"/>
                </a:solidFill>
                <a:latin typeface="Times New Roman" panose="02020603050405020304" pitchFamily="18" charset="0"/>
                <a:cs typeface="Times New Roman" panose="02020603050405020304" pitchFamily="18" charset="0"/>
              </a:rPr>
              <a:t>level</a:t>
            </a:r>
            <a:r>
              <a:rPr lang="en-US" sz="1800" spc="3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of</a:t>
            </a:r>
            <a:r>
              <a:rPr lang="en-US" sz="1800" spc="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performance</a:t>
            </a:r>
            <a:r>
              <a:rPr lang="en-US" sz="1800" spc="15">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across</a:t>
            </a:r>
            <a:r>
              <a:rPr lang="en-US" sz="1800" spc="-10">
                <a:solidFill>
                  <a:schemeClr val="tx1"/>
                </a:solidFill>
                <a:latin typeface="Times New Roman" panose="02020603050405020304" pitchFamily="18" charset="0"/>
                <a:cs typeface="Times New Roman" panose="02020603050405020304" pitchFamily="18" charset="0"/>
              </a:rPr>
              <a:t> the</a:t>
            </a:r>
            <a:r>
              <a:rPr lang="en-US" sz="1800" spc="1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board,</a:t>
            </a:r>
            <a:r>
              <a:rPr lang="en-US" sz="1800" spc="4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with</a:t>
            </a:r>
            <a:r>
              <a:rPr lang="en-US" sz="1800" spc="2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a</a:t>
            </a:r>
            <a:r>
              <a:rPr lang="en-US" sz="1800" spc="4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99.2%</a:t>
            </a:r>
            <a:r>
              <a:rPr lang="en-US" sz="1800" spc="-8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accuracy,</a:t>
            </a:r>
            <a:r>
              <a:rPr lang="en-US" sz="1800" spc="-10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97.1%</a:t>
            </a:r>
            <a:r>
              <a:rPr lang="en-US" sz="180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precision,</a:t>
            </a:r>
            <a:r>
              <a:rPr lang="en-US" sz="1800" spc="4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96.1%</a:t>
            </a:r>
            <a:r>
              <a:rPr lang="en-US" sz="1800" spc="-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recall,</a:t>
            </a:r>
            <a:r>
              <a:rPr lang="en-US" sz="1800" spc="-3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and</a:t>
            </a:r>
            <a:r>
              <a:rPr lang="en-US" sz="1800" spc="2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96.6%</a:t>
            </a:r>
            <a:r>
              <a:rPr lang="en-US" sz="1800" spc="-5">
                <a:solidFill>
                  <a:schemeClr val="tx1"/>
                </a:solidFill>
                <a:latin typeface="Times New Roman" panose="02020603050405020304" pitchFamily="18" charset="0"/>
                <a:cs typeface="Times New Roman" panose="02020603050405020304" pitchFamily="18" charset="0"/>
              </a:rPr>
              <a:t> </a:t>
            </a:r>
            <a:r>
              <a:rPr lang="en-US" sz="1800" spc="25">
                <a:solidFill>
                  <a:schemeClr val="tx1"/>
                </a:solidFill>
                <a:latin typeface="Times New Roman" panose="02020603050405020304" pitchFamily="18" charset="0"/>
                <a:cs typeface="Times New Roman" panose="02020603050405020304" pitchFamily="18" charset="0"/>
              </a:rPr>
              <a:t>F1</a:t>
            </a:r>
            <a:r>
              <a:rPr lang="en-US" sz="1800" spc="-3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score</a:t>
            </a:r>
            <a:r>
              <a:rPr lang="en-US" sz="1800" spc="-6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when</a:t>
            </a:r>
            <a:r>
              <a:rPr lang="en-US" sz="1800" spc="3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using</a:t>
            </a:r>
            <a:r>
              <a:rPr lang="en-US" sz="1800" spc="-12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Adam</a:t>
            </a:r>
            <a:r>
              <a:rPr lang="en-US" sz="1800" spc="2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as</a:t>
            </a:r>
            <a:r>
              <a:rPr lang="en-US" sz="1800" spc="-1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the</a:t>
            </a:r>
            <a:r>
              <a:rPr lang="en-US" sz="1800" spc="15">
                <a:solidFill>
                  <a:schemeClr val="tx1"/>
                </a:solidFill>
                <a:latin typeface="Times New Roman" panose="02020603050405020304" pitchFamily="18" charset="0"/>
                <a:cs typeface="Times New Roman" panose="02020603050405020304" pitchFamily="18" charset="0"/>
              </a:rPr>
              <a:t> </a:t>
            </a:r>
            <a:r>
              <a:rPr lang="en-US" sz="1800" spc="-20">
                <a:solidFill>
                  <a:schemeClr val="tx1"/>
                </a:solidFill>
                <a:latin typeface="Times New Roman" panose="02020603050405020304" pitchFamily="18" charset="0"/>
                <a:cs typeface="Times New Roman" panose="02020603050405020304" pitchFamily="18" charset="0"/>
              </a:rPr>
              <a:t>optimizer.</a:t>
            </a:r>
            <a:endParaRPr lang="en-US" sz="1800">
              <a:solidFill>
                <a:schemeClr val="tx1"/>
              </a:solidFill>
              <a:latin typeface="Times New Roman" panose="02020603050405020304" pitchFamily="18" charset="0"/>
              <a:cs typeface="Times New Roman" panose="02020603050405020304" pitchFamily="18" charset="0"/>
            </a:endParaRPr>
          </a:p>
          <a:p>
            <a:pPr marL="12700" marR="370840" algn="just">
              <a:lnSpc>
                <a:spcPct val="109500"/>
              </a:lnSpc>
              <a:spcBef>
                <a:spcPts val="1800"/>
              </a:spcBef>
              <a:buClr>
                <a:schemeClr val="tx1"/>
              </a:buClr>
              <a:buFont typeface="Arial" panose="020B0604020202020204" pitchFamily="34" charset="0"/>
              <a:buChar char="•"/>
            </a:pPr>
            <a:r>
              <a:rPr lang="en-US" sz="1800" spc="-15">
                <a:solidFill>
                  <a:schemeClr val="tx1"/>
                </a:solidFill>
                <a:latin typeface="Times New Roman" panose="02020603050405020304" pitchFamily="18" charset="0"/>
                <a:cs typeface="Times New Roman" panose="02020603050405020304" pitchFamily="18" charset="0"/>
              </a:rPr>
              <a:t>We</a:t>
            </a:r>
            <a:r>
              <a:rPr lang="en-US" sz="1800" spc="-5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have</a:t>
            </a:r>
            <a:r>
              <a:rPr lang="en-US" sz="1800" spc="1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achieved</a:t>
            </a:r>
            <a:r>
              <a:rPr lang="en-US" sz="1800" spc="90">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this</a:t>
            </a:r>
            <a:r>
              <a:rPr lang="en-US" sz="1800" spc="55">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accuracy</a:t>
            </a:r>
            <a:r>
              <a:rPr lang="en-US" sz="1800" spc="-17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by</a:t>
            </a:r>
            <a:r>
              <a:rPr lang="en-US" sz="1800" spc="5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the</a:t>
            </a:r>
            <a:r>
              <a:rPr lang="en-US" sz="1800" spc="2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datasets</a:t>
            </a:r>
            <a:r>
              <a:rPr lang="en-US" sz="1800" spc="5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such</a:t>
            </a:r>
            <a:r>
              <a:rPr lang="en-US" sz="1800" spc="-5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as</a:t>
            </a:r>
            <a:r>
              <a:rPr lang="en-US" sz="1800" spc="3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NBaIOT</a:t>
            </a:r>
            <a:r>
              <a:rPr lang="en-US" sz="1800" spc="-90">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[Network</a:t>
            </a:r>
            <a:r>
              <a:rPr lang="en-US" sz="1800" spc="-4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based</a:t>
            </a:r>
            <a:r>
              <a:rPr lang="en-US" sz="1800" spc="1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detection</a:t>
            </a:r>
            <a:r>
              <a:rPr lang="en-US" sz="1800" spc="110">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of</a:t>
            </a:r>
            <a:r>
              <a:rPr lang="en-US" sz="1800" spc="5">
                <a:solidFill>
                  <a:schemeClr val="tx1"/>
                </a:solidFill>
                <a:latin typeface="Times New Roman" panose="02020603050405020304" pitchFamily="18" charset="0"/>
                <a:cs typeface="Times New Roman" panose="02020603050405020304" pitchFamily="18" charset="0"/>
              </a:rPr>
              <a:t> </a:t>
            </a:r>
            <a:r>
              <a:rPr lang="en-US" sz="1800">
                <a:solidFill>
                  <a:schemeClr val="tx1"/>
                </a:solidFill>
                <a:latin typeface="Times New Roman" panose="02020603050405020304" pitchFamily="18" charset="0"/>
                <a:cs typeface="Times New Roman" panose="02020603050405020304" pitchFamily="18" charset="0"/>
              </a:rPr>
              <a:t>IOT </a:t>
            </a:r>
            <a:r>
              <a:rPr lang="en-US" sz="1800" spc="-385">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botnet </a:t>
            </a:r>
            <a:r>
              <a:rPr lang="en-US" sz="1800" spc="-5">
                <a:solidFill>
                  <a:schemeClr val="tx1"/>
                </a:solidFill>
                <a:latin typeface="Times New Roman" panose="02020603050405020304" pitchFamily="18" charset="0"/>
                <a:cs typeface="Times New Roman" panose="02020603050405020304" pitchFamily="18" charset="0"/>
              </a:rPr>
              <a:t>attacks] (which </a:t>
            </a:r>
            <a:r>
              <a:rPr lang="en-US" sz="1800" spc="-10">
                <a:solidFill>
                  <a:schemeClr val="tx1"/>
                </a:solidFill>
                <a:latin typeface="Times New Roman" panose="02020603050405020304" pitchFamily="18" charset="0"/>
                <a:cs typeface="Times New Roman" panose="02020603050405020304" pitchFamily="18" charset="0"/>
              </a:rPr>
              <a:t>contains </a:t>
            </a:r>
            <a:r>
              <a:rPr lang="en-US" sz="1800" spc="-5">
                <a:solidFill>
                  <a:schemeClr val="tx1"/>
                </a:solidFill>
                <a:latin typeface="Times New Roman" panose="02020603050405020304" pitchFamily="18" charset="0"/>
                <a:cs typeface="Times New Roman" panose="02020603050405020304" pitchFamily="18" charset="0"/>
              </a:rPr>
              <a:t>Data </a:t>
            </a:r>
            <a:r>
              <a:rPr lang="en-US" sz="1800" spc="10">
                <a:solidFill>
                  <a:schemeClr val="tx1"/>
                </a:solidFill>
                <a:latin typeface="Times New Roman" panose="02020603050405020304" pitchFamily="18" charset="0"/>
                <a:cs typeface="Times New Roman" panose="02020603050405020304" pitchFamily="18" charset="0"/>
              </a:rPr>
              <a:t>from 9 </a:t>
            </a:r>
            <a:r>
              <a:rPr lang="en-US" sz="1800" spc="-5">
                <a:solidFill>
                  <a:schemeClr val="tx1"/>
                </a:solidFill>
                <a:latin typeface="Times New Roman" panose="02020603050405020304" pitchFamily="18" charset="0"/>
                <a:cs typeface="Times New Roman" panose="02020603050405020304" pitchFamily="18" charset="0"/>
              </a:rPr>
              <a:t>Commercial </a:t>
            </a:r>
            <a:r>
              <a:rPr lang="en-US" sz="1800" spc="5">
                <a:solidFill>
                  <a:schemeClr val="tx1"/>
                </a:solidFill>
                <a:latin typeface="Times New Roman" panose="02020603050405020304" pitchFamily="18" charset="0"/>
                <a:cs typeface="Times New Roman" panose="02020603050405020304" pitchFamily="18" charset="0"/>
              </a:rPr>
              <a:t>IoT </a:t>
            </a:r>
            <a:r>
              <a:rPr lang="en-US" sz="1800" spc="-10">
                <a:solidFill>
                  <a:schemeClr val="tx1"/>
                </a:solidFill>
                <a:latin typeface="Times New Roman" panose="02020603050405020304" pitchFamily="18" charset="0"/>
                <a:cs typeface="Times New Roman" panose="02020603050405020304" pitchFamily="18" charset="0"/>
              </a:rPr>
              <a:t>Devices </a:t>
            </a:r>
            <a:r>
              <a:rPr lang="en-US" sz="1800">
                <a:solidFill>
                  <a:schemeClr val="tx1"/>
                </a:solidFill>
                <a:latin typeface="Times New Roman" panose="02020603050405020304" pitchFamily="18" charset="0"/>
                <a:cs typeface="Times New Roman" panose="02020603050405020304" pitchFamily="18" charset="0"/>
              </a:rPr>
              <a:t>Infected </a:t>
            </a:r>
            <a:r>
              <a:rPr lang="en-US" sz="1800" spc="-10">
                <a:solidFill>
                  <a:schemeClr val="tx1"/>
                </a:solidFill>
                <a:latin typeface="Times New Roman" panose="02020603050405020304" pitchFamily="18" charset="0"/>
                <a:cs typeface="Times New Roman" panose="02020603050405020304" pitchFamily="18" charset="0"/>
              </a:rPr>
              <a:t>by </a:t>
            </a:r>
            <a:r>
              <a:rPr lang="en-US" sz="1800" spc="-5">
                <a:solidFill>
                  <a:schemeClr val="tx1"/>
                </a:solidFill>
                <a:latin typeface="Times New Roman" panose="02020603050405020304" pitchFamily="18" charset="0"/>
                <a:cs typeface="Times New Roman" panose="02020603050405020304" pitchFamily="18" charset="0"/>
              </a:rPr>
              <a:t>Mirai </a:t>
            </a:r>
            <a:r>
              <a:rPr lang="en-US" sz="1800">
                <a:solidFill>
                  <a:schemeClr val="tx1"/>
                </a:solidFill>
                <a:latin typeface="Times New Roman" panose="02020603050405020304" pitchFamily="18" charset="0"/>
                <a:cs typeface="Times New Roman" panose="02020603050405020304" pitchFamily="18" charset="0"/>
              </a:rPr>
              <a:t>and </a:t>
            </a:r>
            <a:r>
              <a:rPr lang="en-US" sz="1800" spc="5">
                <a:solidFill>
                  <a:schemeClr val="tx1"/>
                </a:solidFill>
                <a:latin typeface="Times New Roman" panose="02020603050405020304" pitchFamily="18" charset="0"/>
                <a:cs typeface="Times New Roman" panose="02020603050405020304" pitchFamily="18" charset="0"/>
              </a:rPr>
              <a:t> </a:t>
            </a:r>
            <a:r>
              <a:rPr lang="en-US" sz="1800" spc="10">
                <a:solidFill>
                  <a:schemeClr val="tx1"/>
                </a:solidFill>
                <a:latin typeface="Times New Roman" panose="02020603050405020304" pitchFamily="18" charset="0"/>
                <a:cs typeface="Times New Roman" panose="02020603050405020304" pitchFamily="18" charset="0"/>
              </a:rPr>
              <a:t>BASHLITE) </a:t>
            </a:r>
            <a:r>
              <a:rPr lang="en-US" sz="1800">
                <a:solidFill>
                  <a:schemeClr val="tx1"/>
                </a:solidFill>
                <a:latin typeface="Times New Roman" panose="02020603050405020304" pitchFamily="18" charset="0"/>
                <a:cs typeface="Times New Roman" panose="02020603050405020304" pitchFamily="18" charset="0"/>
              </a:rPr>
              <a:t>and </a:t>
            </a:r>
            <a:r>
              <a:rPr lang="en-US" sz="1800" spc="10">
                <a:solidFill>
                  <a:schemeClr val="tx1"/>
                </a:solidFill>
                <a:latin typeface="Times New Roman" panose="02020603050405020304" pitchFamily="18" charset="0"/>
                <a:cs typeface="Times New Roman" panose="02020603050405020304" pitchFamily="18" charset="0"/>
              </a:rPr>
              <a:t>NSLKDD </a:t>
            </a:r>
            <a:r>
              <a:rPr lang="en-US" sz="1800" spc="5">
                <a:solidFill>
                  <a:schemeClr val="tx1"/>
                </a:solidFill>
                <a:latin typeface="Times New Roman" panose="02020603050405020304" pitchFamily="18" charset="0"/>
                <a:cs typeface="Times New Roman" panose="02020603050405020304" pitchFamily="18" charset="0"/>
              </a:rPr>
              <a:t>(n </a:t>
            </a:r>
            <a:r>
              <a:rPr lang="en-US" sz="1800" spc="-5">
                <a:solidFill>
                  <a:schemeClr val="tx1"/>
                </a:solidFill>
                <a:latin typeface="Times New Roman" panose="02020603050405020304" pitchFamily="18" charset="0"/>
                <a:cs typeface="Times New Roman" panose="02020603050405020304" pitchFamily="18" charset="0"/>
              </a:rPr>
              <a:t>effective benchmark </a:t>
            </a:r>
            <a:r>
              <a:rPr lang="en-US" sz="1800" spc="-10">
                <a:solidFill>
                  <a:schemeClr val="tx1"/>
                </a:solidFill>
                <a:latin typeface="Times New Roman" panose="02020603050405020304" pitchFamily="18" charset="0"/>
                <a:cs typeface="Times New Roman" panose="02020603050405020304" pitchFamily="18" charset="0"/>
              </a:rPr>
              <a:t>data </a:t>
            </a:r>
            <a:r>
              <a:rPr lang="en-US" sz="1800" spc="-5">
                <a:solidFill>
                  <a:schemeClr val="tx1"/>
                </a:solidFill>
                <a:latin typeface="Times New Roman" panose="02020603050405020304" pitchFamily="18" charset="0"/>
                <a:cs typeface="Times New Roman" panose="02020603050405020304" pitchFamily="18" charset="0"/>
              </a:rPr>
              <a:t>set to </a:t>
            </a:r>
            <a:r>
              <a:rPr lang="en-US" sz="1800" spc="-15">
                <a:solidFill>
                  <a:schemeClr val="tx1"/>
                </a:solidFill>
                <a:latin typeface="Times New Roman" panose="02020603050405020304" pitchFamily="18" charset="0"/>
                <a:cs typeface="Times New Roman" panose="02020603050405020304" pitchFamily="18" charset="0"/>
              </a:rPr>
              <a:t>help </a:t>
            </a:r>
            <a:r>
              <a:rPr lang="en-US" sz="1800" spc="-5">
                <a:solidFill>
                  <a:schemeClr val="tx1"/>
                </a:solidFill>
                <a:latin typeface="Times New Roman" panose="02020603050405020304" pitchFamily="18" charset="0"/>
                <a:cs typeface="Times New Roman" panose="02020603050405020304" pitchFamily="18" charset="0"/>
              </a:rPr>
              <a:t>researchers compare different </a:t>
            </a:r>
            <a:r>
              <a:rPr lang="en-US" sz="1800">
                <a:solidFill>
                  <a:schemeClr val="tx1"/>
                </a:solidFill>
                <a:latin typeface="Times New Roman" panose="02020603050405020304" pitchFamily="18" charset="0"/>
                <a:cs typeface="Times New Roman" panose="02020603050405020304" pitchFamily="18" charset="0"/>
              </a:rPr>
              <a:t> </a:t>
            </a:r>
            <a:r>
              <a:rPr lang="en-US" sz="1800" spc="-5">
                <a:solidFill>
                  <a:schemeClr val="tx1"/>
                </a:solidFill>
                <a:latin typeface="Times New Roman" panose="02020603050405020304" pitchFamily="18" charset="0"/>
                <a:cs typeface="Times New Roman" panose="02020603050405020304" pitchFamily="18" charset="0"/>
              </a:rPr>
              <a:t>intrusion</a:t>
            </a:r>
            <a:r>
              <a:rPr lang="en-US" sz="1800" spc="20">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detection</a:t>
            </a:r>
            <a:r>
              <a:rPr lang="en-US" sz="1800" spc="114">
                <a:solidFill>
                  <a:schemeClr val="tx1"/>
                </a:solidFill>
                <a:latin typeface="Times New Roman" panose="02020603050405020304" pitchFamily="18" charset="0"/>
                <a:cs typeface="Times New Roman" panose="02020603050405020304" pitchFamily="18" charset="0"/>
              </a:rPr>
              <a:t> </a:t>
            </a:r>
            <a:r>
              <a:rPr lang="en-US" sz="1800" spc="-15">
                <a:solidFill>
                  <a:schemeClr val="tx1"/>
                </a:solidFill>
                <a:latin typeface="Times New Roman" panose="02020603050405020304" pitchFamily="18" charset="0"/>
                <a:cs typeface="Times New Roman" panose="02020603050405020304" pitchFamily="18" charset="0"/>
              </a:rPr>
              <a:t>methods).</a:t>
            </a:r>
            <a:endParaRPr lang="en-US" sz="180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a:t>
            </a:r>
            <a:r>
              <a:rPr lang="en-IN" sz="1200" b="1">
                <a:solidFill>
                  <a:srgbClr val="0000FF"/>
                </a:solidFill>
                <a:latin typeface="Times New Roman" panose="02020603050405020304" pitchFamily="18" charset="0"/>
                <a:cs typeface="Times New Roman" panose="02020603050405020304" pitchFamily="18" charset="0"/>
              </a:rPr>
              <a:t>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2286000" y="111442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
        <p:nvSpPr>
          <p:cNvPr id="6" name="Text Box 5"/>
          <p:cNvSpPr txBox="1"/>
          <p:nvPr/>
        </p:nvSpPr>
        <p:spPr>
          <a:xfrm flipV="1">
            <a:off x="494030" y="4599940"/>
            <a:ext cx="2631440" cy="564515"/>
          </a:xfrm>
          <a:prstGeom prst="rect">
            <a:avLst/>
          </a:prstGeom>
          <a:noFill/>
        </p:spPr>
        <p:txBody>
          <a:bodyPr wrap="square" rtlCol="0">
            <a:no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25D42E7-8EB6-FBA2-3D6D-563E21377FFD}"/>
              </a:ext>
            </a:extLst>
          </p:cNvPr>
          <p:cNvSpPr>
            <a:spLocks noGrp="1"/>
          </p:cNvSpPr>
          <p:nvPr>
            <p:ph type="title"/>
          </p:nvPr>
        </p:nvSpPr>
        <p:spPr>
          <a:xfrm>
            <a:off x="609599" y="157316"/>
            <a:ext cx="7433186" cy="5791310"/>
          </a:xfrm>
        </p:spPr>
        <p:txBody>
          <a:bodyPr>
            <a:normAutofit/>
          </a:bodyPr>
          <a:lstStyle/>
          <a:p>
            <a:r>
              <a:rPr lang="en-US" sz="2400" dirty="0">
                <a:solidFill>
                  <a:schemeClr val="tx1">
                    <a:lumMod val="95000"/>
                    <a:lumOff val="5000"/>
                  </a:schemeClr>
                </a:solidFill>
              </a:rPr>
              <a:t>ALGORITMS</a:t>
            </a:r>
            <a:endParaRPr lang="en-IN" sz="2400" dirty="0">
              <a:solidFill>
                <a:schemeClr val="tx1">
                  <a:lumMod val="95000"/>
                  <a:lumOff val="5000"/>
                </a:schemeClr>
              </a:solidFill>
            </a:endParaRPr>
          </a:p>
        </p:txBody>
      </p:sp>
      <p:sp>
        <p:nvSpPr>
          <p:cNvPr id="4" name="Footer Placeholder 3">
            <a:extLst>
              <a:ext uri="{FF2B5EF4-FFF2-40B4-BE49-F238E27FC236}">
                <a16:creationId xmlns:a16="http://schemas.microsoft.com/office/drawing/2014/main" id="{F881F51C-8005-18D2-C625-77FF3204FB88}"/>
              </a:ext>
            </a:extLst>
          </p:cNvPr>
          <p:cNvSpPr>
            <a:spLocks noGrp="1"/>
          </p:cNvSpPr>
          <p:nvPr>
            <p:ph type="ftr" sz="quarter" idx="11"/>
          </p:nvPr>
        </p:nvSpPr>
        <p:spPr/>
        <p:txBody>
          <a:bodyPr/>
          <a:lstStyle/>
          <a:p>
            <a:r>
              <a:rPr lang="en-IN"/>
              <a:t>Dept. of ISE, RRCE                                                                                                                                                     2019-20</a:t>
            </a:r>
            <a:endParaRPr lang="en-US" dirty="0"/>
          </a:p>
        </p:txBody>
      </p:sp>
      <p:sp>
        <p:nvSpPr>
          <p:cNvPr id="6" name="Title 1">
            <a:extLst>
              <a:ext uri="{FF2B5EF4-FFF2-40B4-BE49-F238E27FC236}">
                <a16:creationId xmlns:a16="http://schemas.microsoft.com/office/drawing/2014/main" id="{DE832A6F-B2B3-9FD6-BAB8-4F0AE59BAA4D}"/>
              </a:ext>
            </a:extLst>
          </p:cNvPr>
          <p:cNvSpPr>
            <a:spLocks noGrp="1"/>
          </p:cNvSpPr>
          <p:nvPr>
            <p:ph idx="4294967295"/>
          </p:nvPr>
        </p:nvSpPr>
        <p:spPr>
          <a:xfrm>
            <a:off x="432618" y="540774"/>
            <a:ext cx="7433187" cy="5958451"/>
          </a:xfrm>
        </p:spPr>
        <p:txBody>
          <a:bodyPr>
            <a:normAutofit fontScale="97500"/>
          </a:bodyPr>
          <a:lstStyle/>
          <a:p>
            <a:pPr marL="0" indent="0">
              <a:buNone/>
            </a:pPr>
            <a:r>
              <a:rPr lang="en-US" sz="1600" dirty="0">
                <a:solidFill>
                  <a:schemeClr val="tx1"/>
                </a:solidFill>
                <a:latin typeface="Times New Roman" panose="02020603050405020304" pitchFamily="18" charset="0"/>
                <a:cs typeface="Times New Roman" panose="02020603050405020304" pitchFamily="18" charset="0"/>
              </a:rPr>
              <a:t>.</a:t>
            </a:r>
            <a:r>
              <a:rPr lang="en-US" sz="1600" dirty="0"/>
              <a:t>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 Decision Tree: • A tree-like structure where data is split based on feature values to classify instances into classes. • Decision trees are interpretable and work well for both categorical and continuous data. </a:t>
            </a:r>
          </a:p>
          <a:p>
            <a:pPr marL="0"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Random Forest: • An ensemble method that builds multiple decision trees and combines their outputs to improve accuracy and reduce overfitting. • It is highly effective for structured data and widely used in agriculture for crop and soil analysis.</a:t>
            </a:r>
          </a:p>
          <a:p>
            <a:pPr marL="0"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 Support Vector Machine (SVM): • A powerful algorithm that finds the hyperplane that best separates classes in a high-dimensional • space. • SVMs are effective for small to medium-sized datasets and work well for both linear and nonlinear classification tasks. </a:t>
            </a:r>
          </a:p>
          <a:p>
            <a:pPr marL="0"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K-Nearest Neighbors (KNN): • A simple, instance-based algorithm that classifies data points based on the majority label of their k-nearest neighbors. • It is easy to implement but can be computationally expensive for large datasets.</a:t>
            </a:r>
          </a:p>
          <a:p>
            <a:pPr marL="0"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 ➢ Naïve Bayes: • A probabilistic classifier based on Bayes' theorem, assuming independence between features. • It is particularly efficient for text classification and works well with small datasets.</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528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3DA74D4-00BB-D924-9BA7-D88C486375EA}"/>
              </a:ext>
            </a:extLst>
          </p:cNvPr>
          <p:cNvSpPr>
            <a:spLocks noGrp="1"/>
          </p:cNvSpPr>
          <p:nvPr>
            <p:ph type="ftr" sz="quarter" idx="11"/>
          </p:nvPr>
        </p:nvSpPr>
        <p:spPr/>
        <p:txBody>
          <a:bodyPr/>
          <a:lstStyle/>
          <a:p>
            <a:r>
              <a:rPr lang="en-IN"/>
              <a:t>Dept. of ISE, RRCE                                                                                                                                                     2019-20</a:t>
            </a:r>
            <a:endParaRPr lang="en-US" dirty="0"/>
          </a:p>
        </p:txBody>
      </p:sp>
      <p:graphicFrame>
        <p:nvGraphicFramePr>
          <p:cNvPr id="7" name="Table 6">
            <a:extLst>
              <a:ext uri="{FF2B5EF4-FFF2-40B4-BE49-F238E27FC236}">
                <a16:creationId xmlns:a16="http://schemas.microsoft.com/office/drawing/2014/main" id="{DE88BB19-945A-EF1D-023B-61B319F67659}"/>
              </a:ext>
            </a:extLst>
          </p:cNvPr>
          <p:cNvGraphicFramePr>
            <a:graphicFrameLocks noGrp="1"/>
          </p:cNvGraphicFramePr>
          <p:nvPr>
            <p:extLst>
              <p:ext uri="{D42A27DB-BD31-4B8C-83A1-F6EECF244321}">
                <p14:modId xmlns:p14="http://schemas.microsoft.com/office/powerpoint/2010/main" val="364221637"/>
              </p:ext>
            </p:extLst>
          </p:nvPr>
        </p:nvGraphicFramePr>
        <p:xfrm>
          <a:off x="609600" y="727588"/>
          <a:ext cx="6676053" cy="3853316"/>
        </p:xfrm>
        <a:graphic>
          <a:graphicData uri="http://schemas.openxmlformats.org/drawingml/2006/table">
            <a:tbl>
              <a:tblPr firstRow="1" firstCol="1" bandRow="1">
                <a:tableStyleId>{5C22544A-7EE6-4342-B048-85BDC9FD1C3A}</a:tableStyleId>
              </a:tblPr>
              <a:tblGrid>
                <a:gridCol w="1058069">
                  <a:extLst>
                    <a:ext uri="{9D8B030D-6E8A-4147-A177-3AD203B41FA5}">
                      <a16:colId xmlns:a16="http://schemas.microsoft.com/office/drawing/2014/main" val="194700701"/>
                    </a:ext>
                  </a:extLst>
                </a:gridCol>
                <a:gridCol w="1058069">
                  <a:extLst>
                    <a:ext uri="{9D8B030D-6E8A-4147-A177-3AD203B41FA5}">
                      <a16:colId xmlns:a16="http://schemas.microsoft.com/office/drawing/2014/main" val="4267665755"/>
                    </a:ext>
                  </a:extLst>
                </a:gridCol>
                <a:gridCol w="1058069">
                  <a:extLst>
                    <a:ext uri="{9D8B030D-6E8A-4147-A177-3AD203B41FA5}">
                      <a16:colId xmlns:a16="http://schemas.microsoft.com/office/drawing/2014/main" val="2593174882"/>
                    </a:ext>
                  </a:extLst>
                </a:gridCol>
                <a:gridCol w="1136677">
                  <a:extLst>
                    <a:ext uri="{9D8B030D-6E8A-4147-A177-3AD203B41FA5}">
                      <a16:colId xmlns:a16="http://schemas.microsoft.com/office/drawing/2014/main" val="3340413384"/>
                    </a:ext>
                  </a:extLst>
                </a:gridCol>
                <a:gridCol w="1058069">
                  <a:extLst>
                    <a:ext uri="{9D8B030D-6E8A-4147-A177-3AD203B41FA5}">
                      <a16:colId xmlns:a16="http://schemas.microsoft.com/office/drawing/2014/main" val="3491002127"/>
                    </a:ext>
                  </a:extLst>
                </a:gridCol>
                <a:gridCol w="1307100">
                  <a:extLst>
                    <a:ext uri="{9D8B030D-6E8A-4147-A177-3AD203B41FA5}">
                      <a16:colId xmlns:a16="http://schemas.microsoft.com/office/drawing/2014/main" val="1378706399"/>
                    </a:ext>
                  </a:extLst>
                </a:gridCol>
              </a:tblGrid>
              <a:tr h="1130709">
                <a:tc>
                  <a:txBody>
                    <a:bodyPr/>
                    <a:lstStyle/>
                    <a:p>
                      <a:pPr marL="472440" indent="-228600">
                        <a:lnSpc>
                          <a:spcPct val="148000"/>
                        </a:lnSpc>
                      </a:pPr>
                      <a:r>
                        <a:rPr lang="en-IN" sz="1100">
                          <a:effectLst/>
                        </a:rPr>
                        <a:t>Algorithm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Train </a:t>
                      </a:r>
                      <a:endParaRPr lang="en-IN" sz="1000">
                        <a:effectLst/>
                      </a:endParaRPr>
                    </a:p>
                    <a:p>
                      <a:pPr marL="472440" indent="-228600">
                        <a:lnSpc>
                          <a:spcPct val="148000"/>
                        </a:lnSpc>
                      </a:pPr>
                      <a:r>
                        <a:rPr lang="en-IN" sz="1100">
                          <a:effectLst/>
                        </a:rPr>
                        <a:t>Accuracy (%)</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Test Accuracy (%)</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Precision (%)</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Recall (%)</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F1-Score (%)</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3625323654"/>
                  </a:ext>
                </a:extLst>
              </a:tr>
              <a:tr h="737419">
                <a:tc>
                  <a:txBody>
                    <a:bodyPr/>
                    <a:lstStyle/>
                    <a:p>
                      <a:pPr marL="472440" indent="-228600">
                        <a:lnSpc>
                          <a:spcPct val="148000"/>
                        </a:lnSpc>
                      </a:pPr>
                      <a:r>
                        <a:rPr lang="en-IN" sz="1100">
                          <a:effectLst/>
                        </a:rPr>
                        <a:t>Random Forest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99.94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dirty="0">
                          <a:effectLst/>
                        </a:rPr>
                        <a:t>99.24</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99.33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dirty="0">
                          <a:effectLst/>
                        </a:rPr>
                        <a:t>99.24</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99.24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2418989468"/>
                  </a:ext>
                </a:extLst>
              </a:tr>
              <a:tr h="570271">
                <a:tc>
                  <a:txBody>
                    <a:bodyPr/>
                    <a:lstStyle/>
                    <a:p>
                      <a:pPr marL="472440" indent="-228600">
                        <a:lnSpc>
                          <a:spcPct val="148000"/>
                        </a:lnSpc>
                      </a:pPr>
                      <a:r>
                        <a:rPr lang="en-IN" sz="1100">
                          <a:effectLst/>
                        </a:rPr>
                        <a:t>Decision Tree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dirty="0">
                          <a:effectLst/>
                        </a:rPr>
                        <a: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98.73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99.02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98.87</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2309867274"/>
                  </a:ext>
                </a:extLst>
              </a:tr>
              <a:tr h="471639">
                <a:tc>
                  <a:txBody>
                    <a:bodyPr/>
                    <a:lstStyle/>
                    <a:p>
                      <a:pPr marL="472440" indent="-228600">
                        <a:lnSpc>
                          <a:spcPct val="148000"/>
                        </a:lnSpc>
                      </a:pPr>
                      <a:r>
                        <a:rPr lang="en-IN" sz="1100">
                          <a:effectLst/>
                        </a:rPr>
                        <a:t>KNN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97.60</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97.58</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97.87</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97.61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97.56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3916956627"/>
                  </a:ext>
                </a:extLst>
              </a:tr>
              <a:tr h="471639">
                <a:tc>
                  <a:txBody>
                    <a:bodyPr/>
                    <a:lstStyle/>
                    <a:p>
                      <a:pPr marL="472440" indent="-228600">
                        <a:lnSpc>
                          <a:spcPct val="148000"/>
                        </a:lnSpc>
                      </a:pPr>
                      <a:r>
                        <a:rPr lang="en-IN" sz="1100">
                          <a:effectLst/>
                        </a:rPr>
                        <a:t>SVM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99.16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99.09</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dirty="0">
                          <a:effectLst/>
                        </a:rPr>
                        <a:t>99.17</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99.11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99.09</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2514747317"/>
                  </a:ext>
                </a:extLst>
              </a:tr>
              <a:tr h="471639">
                <a:tc>
                  <a:txBody>
                    <a:bodyPr/>
                    <a:lstStyle/>
                    <a:p>
                      <a:pPr marL="472440" indent="-228600">
                        <a:lnSpc>
                          <a:spcPct val="148000"/>
                        </a:lnSpc>
                      </a:pPr>
                      <a:r>
                        <a:rPr lang="en-IN" sz="1100">
                          <a:effectLst/>
                        </a:rPr>
                        <a:t>Naive Bayes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99.55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99.39</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99.48</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a:effectLst/>
                        </a:rPr>
                        <a:t>99.43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tc>
                  <a:txBody>
                    <a:bodyPr/>
                    <a:lstStyle/>
                    <a:p>
                      <a:pPr marL="472440" indent="-228600">
                        <a:lnSpc>
                          <a:spcPct val="148000"/>
                        </a:lnSpc>
                      </a:pPr>
                      <a:r>
                        <a:rPr lang="en-IN" sz="1100" dirty="0">
                          <a:effectLst/>
                        </a:rPr>
                        <a:t>99.40</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62" marR="9062" marT="9062" marB="9062" anchor="ctr"/>
                </a:tc>
                <a:extLst>
                  <a:ext uri="{0D108BD9-81ED-4DB2-BD59-A6C34878D82A}">
                    <a16:rowId xmlns:a16="http://schemas.microsoft.com/office/drawing/2014/main" val="495680673"/>
                  </a:ext>
                </a:extLst>
              </a:tr>
            </a:tbl>
          </a:graphicData>
        </a:graphic>
      </p:graphicFrame>
    </p:spTree>
    <p:extLst>
      <p:ext uri="{BB962C8B-B14F-4D97-AF65-F5344CB8AC3E}">
        <p14:creationId xmlns:p14="http://schemas.microsoft.com/office/powerpoint/2010/main" val="954498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F18239-DB17-C485-CC77-76822C8D19C8}"/>
              </a:ext>
            </a:extLst>
          </p:cNvPr>
          <p:cNvSpPr>
            <a:spLocks noGrp="1"/>
          </p:cNvSpPr>
          <p:nvPr>
            <p:ph type="ftr" sz="quarter" idx="11"/>
          </p:nvPr>
        </p:nvSpPr>
        <p:spPr/>
        <p:txBody>
          <a:bodyPr/>
          <a:lstStyle/>
          <a:p>
            <a:r>
              <a:rPr lang="en-IN"/>
              <a:t>Dept. of ISE, RRCE                                                                                                                                                     2019-20</a:t>
            </a:r>
            <a:endParaRPr lang="en-US" dirty="0"/>
          </a:p>
        </p:txBody>
      </p:sp>
      <p:sp>
        <p:nvSpPr>
          <p:cNvPr id="3" name="TextBox 2">
            <a:extLst>
              <a:ext uri="{FF2B5EF4-FFF2-40B4-BE49-F238E27FC236}">
                <a16:creationId xmlns:a16="http://schemas.microsoft.com/office/drawing/2014/main" id="{334A124B-7FC8-A7A6-C409-75405842153A}"/>
              </a:ext>
            </a:extLst>
          </p:cNvPr>
          <p:cNvSpPr txBox="1"/>
          <p:nvPr/>
        </p:nvSpPr>
        <p:spPr>
          <a:xfrm>
            <a:off x="285135" y="275303"/>
            <a:ext cx="8200104" cy="6862584"/>
          </a:xfrm>
          <a:prstGeom prst="rect">
            <a:avLst/>
          </a:prstGeom>
          <a:noFill/>
        </p:spPr>
        <p:txBody>
          <a:bodyPr wrap="square" rtlCol="0">
            <a:spAutoFit/>
          </a:bodyPr>
          <a:lstStyle/>
          <a:p>
            <a:pPr marL="243205" algn="ctr">
              <a:lnSpc>
                <a:spcPct val="148000"/>
              </a:lnSpc>
            </a:pPr>
            <a:r>
              <a:rPr lang="en-IN" sz="2000" b="1" spc="0">
                <a:latin typeface="Times New Roman" panose="02020603050405020304" pitchFamily="18" charset="0"/>
                <a:ea typeface="Times New Roman" panose="02020603050405020304" pitchFamily="18" charset="0"/>
              </a:rPr>
              <a:t>LIMITATIONS</a:t>
            </a:r>
            <a:endParaRPr lang="en-IN" sz="2000" b="1" spc="0" dirty="0">
              <a:effectLst/>
              <a:latin typeface="Times New Roman" panose="02020603050405020304" pitchFamily="18" charset="0"/>
              <a:ea typeface="Times New Roman" panose="02020603050405020304" pitchFamily="18" charset="0"/>
            </a:endParaRPr>
          </a:p>
          <a:p>
            <a:pPr marL="243205"/>
            <a:r>
              <a:rPr lang="en-US" sz="1200" dirty="0">
                <a:effectLs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a:p>
            <a:pPr marL="342900" lvl="0" indent="-342900">
              <a:lnSpc>
                <a:spcPct val="148000"/>
              </a:lnSpc>
              <a:buFont typeface="Courier New" panose="02070309020205020404" pitchFamily="49" charset="0"/>
              <a:buChar char="o"/>
            </a:pPr>
            <a:r>
              <a:rPr lang="en-IN" sz="1600" b="1" dirty="0">
                <a:effectLst/>
                <a:latin typeface="Times New Roman" panose="02020603050405020304" pitchFamily="18" charset="0"/>
                <a:ea typeface="Times New Roman" panose="02020603050405020304" pitchFamily="18" charset="0"/>
              </a:rPr>
              <a:t>Random Forest</a:t>
            </a:r>
            <a:r>
              <a:rPr lang="en-IN" sz="1600" dirty="0">
                <a:effectLst/>
                <a:latin typeface="Times New Roman" panose="02020603050405020304" pitchFamily="18" charset="0"/>
                <a:ea typeface="Times New Roman" panose="02020603050405020304" pitchFamily="18" charset="0"/>
              </a:rPr>
              <a:t>: While highly accurate, it can be computationally expensive due to the aggregation of multiple decision trees, making it less efficient for real-time applications.</a:t>
            </a:r>
          </a:p>
          <a:p>
            <a:pPr marL="342900" lvl="0" indent="-342900">
              <a:lnSpc>
                <a:spcPct val="148000"/>
              </a:lnSpc>
              <a:buFont typeface="Courier New" panose="02070309020205020404" pitchFamily="49" charset="0"/>
              <a:buChar char="o"/>
            </a:pPr>
            <a:r>
              <a:rPr lang="en-IN" sz="1600" b="1" dirty="0">
                <a:effectLst/>
                <a:latin typeface="Times New Roman" panose="02020603050405020304" pitchFamily="18" charset="0"/>
                <a:ea typeface="Times New Roman" panose="02020603050405020304" pitchFamily="18" charset="0"/>
              </a:rPr>
              <a:t>Decision Tree</a:t>
            </a:r>
            <a:r>
              <a:rPr lang="en-IN" sz="1600" dirty="0">
                <a:effectLst/>
                <a:latin typeface="Times New Roman" panose="02020603050405020304" pitchFamily="18" charset="0"/>
                <a:ea typeface="Times New Roman" panose="02020603050405020304" pitchFamily="18" charset="0"/>
              </a:rPr>
              <a:t>: Prone to overfitting, especially when the tree grows too deep, leading to reduced generalization on unseen data.</a:t>
            </a:r>
          </a:p>
          <a:p>
            <a:pPr marL="342900" lvl="0" indent="-342900">
              <a:lnSpc>
                <a:spcPct val="148000"/>
              </a:lnSpc>
              <a:buFont typeface="Courier New" panose="02070309020205020404" pitchFamily="49" charset="0"/>
              <a:buChar char="o"/>
            </a:pPr>
            <a:r>
              <a:rPr lang="en-IN" sz="1600" b="1" dirty="0">
                <a:effectLst/>
                <a:latin typeface="Times New Roman" panose="02020603050405020304" pitchFamily="18" charset="0"/>
                <a:ea typeface="Times New Roman" panose="02020603050405020304" pitchFamily="18" charset="0"/>
              </a:rPr>
              <a:t>KNN</a:t>
            </a:r>
            <a:r>
              <a:rPr lang="en-IN" sz="1600" dirty="0">
                <a:effectLst/>
                <a:latin typeface="Times New Roman" panose="02020603050405020304" pitchFamily="18" charset="0"/>
                <a:ea typeface="Times New Roman" panose="02020603050405020304" pitchFamily="18" charset="0"/>
              </a:rPr>
              <a:t>: Performance heavily depends on the choice of k and is computationally intensive for large datasets due to the need to calculate distances for every query.</a:t>
            </a:r>
          </a:p>
          <a:p>
            <a:pPr marL="342900" lvl="0" indent="-342900">
              <a:lnSpc>
                <a:spcPct val="148000"/>
              </a:lnSpc>
              <a:buFont typeface="Courier New" panose="02070309020205020404" pitchFamily="49" charset="0"/>
              <a:buChar char="o"/>
            </a:pPr>
            <a:r>
              <a:rPr lang="en-IN" sz="1600" b="1" dirty="0">
                <a:effectLst/>
                <a:latin typeface="Times New Roman" panose="02020603050405020304" pitchFamily="18" charset="0"/>
                <a:ea typeface="Times New Roman" panose="02020603050405020304" pitchFamily="18" charset="0"/>
              </a:rPr>
              <a:t>SVM</a:t>
            </a:r>
            <a:r>
              <a:rPr lang="en-IN" sz="1600" dirty="0">
                <a:effectLst/>
                <a:latin typeface="Times New Roman" panose="02020603050405020304" pitchFamily="18" charset="0"/>
                <a:ea typeface="Times New Roman" panose="02020603050405020304" pitchFamily="18" charset="0"/>
              </a:rPr>
              <a:t>: Works well with small datasets but struggles with scalability, and choosing the right kernel is often non-trivial.</a:t>
            </a:r>
          </a:p>
          <a:p>
            <a:pPr marL="342900" lvl="0" indent="-342900">
              <a:lnSpc>
                <a:spcPct val="148000"/>
              </a:lnSpc>
              <a:buFont typeface="Courier New" panose="02070309020205020404" pitchFamily="49" charset="0"/>
              <a:buChar char="o"/>
            </a:pPr>
            <a:r>
              <a:rPr lang="en-IN" sz="1600" b="1" dirty="0">
                <a:effectLst/>
                <a:latin typeface="Times New Roman" panose="02020603050405020304" pitchFamily="18" charset="0"/>
                <a:ea typeface="Times New Roman" panose="02020603050405020304" pitchFamily="18" charset="0"/>
              </a:rPr>
              <a:t>Naive Bayes</a:t>
            </a:r>
            <a:r>
              <a:rPr lang="en-IN" sz="1600" dirty="0">
                <a:effectLst/>
                <a:latin typeface="Times New Roman" panose="02020603050405020304" pitchFamily="18" charset="0"/>
                <a:ea typeface="Times New Roman" panose="02020603050405020304" pitchFamily="18" charset="0"/>
              </a:rPr>
              <a:t>: Assumes feature independence, which rarely holds true in real-world datasets, leading to suboptimal predictions.</a:t>
            </a:r>
          </a:p>
          <a:p>
            <a:pPr marL="342900" lvl="0" indent="-342900">
              <a:lnSpc>
                <a:spcPct val="148000"/>
              </a:lnSpc>
              <a:buFont typeface="Courier New" panose="02070309020205020404" pitchFamily="49" charset="0"/>
              <a:buChar char="o"/>
            </a:pPr>
            <a:r>
              <a:rPr lang="en-IN" sz="1600" dirty="0">
                <a:effectLst/>
                <a:latin typeface="Times New Roman" panose="02020603050405020304" pitchFamily="18" charset="0"/>
                <a:ea typeface="Times New Roman" panose="02020603050405020304" pitchFamily="18" charset="0"/>
              </a:rPr>
              <a:t>All algorithms may underperform when faced with highly imbalanced datasets unless explicitly addressed.</a:t>
            </a:r>
          </a:p>
          <a:p>
            <a:pPr marL="342900" lvl="0" indent="-342900">
              <a:lnSpc>
                <a:spcPct val="148000"/>
              </a:lnSpc>
              <a:buFont typeface="Courier New" panose="02070309020205020404" pitchFamily="49" charset="0"/>
              <a:buChar char="o"/>
            </a:pPr>
            <a:r>
              <a:rPr lang="en-IN" sz="1600" dirty="0">
                <a:effectLst/>
                <a:latin typeface="Times New Roman" panose="02020603050405020304" pitchFamily="18" charset="0"/>
                <a:ea typeface="Times New Roman" panose="02020603050405020304" pitchFamily="18" charset="0"/>
              </a:rPr>
              <a:t>Most require careful tuning of hyperparameters and preprocessing, which can be time-consuming and data-dependent</a:t>
            </a:r>
            <a:r>
              <a:rPr lang="en-IN" sz="1200" dirty="0">
                <a:effectLst/>
                <a:latin typeface="Times New Roman" panose="02020603050405020304" pitchFamily="18" charset="0"/>
                <a:ea typeface="Times New Roman" panose="02020603050405020304" pitchFamily="18" charset="0"/>
              </a:rPr>
              <a:t>.</a:t>
            </a:r>
            <a:endParaRPr lang="en-IN" sz="1100" dirty="0">
              <a:effectLst/>
              <a:latin typeface="Times New Roman" panose="02020603050405020304" pitchFamily="18" charset="0"/>
              <a:ea typeface="Times New Roman" panose="02020603050405020304" pitchFamily="18" charset="0"/>
            </a:endParaRPr>
          </a:p>
          <a:p>
            <a:pPr lvl="0">
              <a:lnSpc>
                <a:spcPct val="148000"/>
              </a:lnSpc>
              <a:buSzPts val="1000"/>
              <a:tabLst>
                <a:tab pos="457200" algn="l"/>
              </a:tabLst>
            </a:pPr>
            <a:endParaRPr lang="en-IN" sz="1200" dirty="0">
              <a:ea typeface="Times New Roman" panose="02020603050405020304" pitchFamily="18" charset="0"/>
            </a:endParaRPr>
          </a:p>
          <a:p>
            <a:pPr lvl="0">
              <a:lnSpc>
                <a:spcPct val="148000"/>
              </a:lnSpc>
              <a:buSzPts val="1000"/>
              <a:tabLst>
                <a:tab pos="457200" algn="l"/>
              </a:tabLst>
            </a:pPr>
            <a:endParaRPr lang="en-IN" sz="1200" dirty="0">
              <a:effectLst/>
              <a:ea typeface="Times New Roman" panose="02020603050405020304" pitchFamily="18" charset="0"/>
            </a:endParaRPr>
          </a:p>
          <a:p>
            <a:pPr lvl="0">
              <a:lnSpc>
                <a:spcPct val="148000"/>
              </a:lnSpc>
              <a:buSzPts val="1000"/>
              <a:tabLst>
                <a:tab pos="457200" algn="l"/>
              </a:tabLst>
            </a:pPr>
            <a:endParaRPr lang="en-IN" sz="1100" dirty="0">
              <a:effectLst/>
              <a:ea typeface="Times New Roman" panose="02020603050405020304" pitchFamily="18" charset="0"/>
            </a:endParaRPr>
          </a:p>
          <a:p>
            <a:endParaRPr lang="en-IN" dirty="0"/>
          </a:p>
        </p:txBody>
      </p:sp>
    </p:spTree>
    <p:extLst>
      <p:ext uri="{BB962C8B-B14F-4D97-AF65-F5344CB8AC3E}">
        <p14:creationId xmlns:p14="http://schemas.microsoft.com/office/powerpoint/2010/main" val="2392692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2661920" y="227938"/>
            <a:ext cx="3684905" cy="743612"/>
          </a:xfrm>
        </p:spPr>
        <p:txBody>
          <a:bodyPr>
            <a:norm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APPLICATIONS</a:t>
            </a:r>
          </a:p>
        </p:txBody>
      </p:sp>
      <p:sp>
        <p:nvSpPr>
          <p:cNvPr id="7" name="Rectangle 1">
            <a:extLst>
              <a:ext uri="{FF2B5EF4-FFF2-40B4-BE49-F238E27FC236}">
                <a16:creationId xmlns:a16="http://schemas.microsoft.com/office/drawing/2014/main" id="{9CC9EC71-28C9-6079-74EB-0F510FCEED65}"/>
              </a:ext>
            </a:extLst>
          </p:cNvPr>
          <p:cNvSpPr>
            <a:spLocks noGrp="1" noChangeArrowheads="1"/>
          </p:cNvSpPr>
          <p:nvPr>
            <p:ph idx="4294967295"/>
          </p:nvPr>
        </p:nvSpPr>
        <p:spPr bwMode="auto">
          <a:xfrm>
            <a:off x="609599" y="851745"/>
            <a:ext cx="8004176" cy="7825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Improved Attack Pattern Recognition</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Faster Detection and Response</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Enhanced Security Posture</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Real-time Monitoring</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Threshold-based Alerting</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Evaluation and Fine-tuning</a:t>
            </a:r>
            <a:endParaRPr lang="en-IN" sz="1800">
              <a:solidFill>
                <a:schemeClr val="tx1"/>
              </a:solidFill>
              <a:latin typeface="Times New Roman" panose="02020603050405020304" pitchFamily="18" charset="0"/>
              <a:cs typeface="Times New Roman" panose="02020603050405020304" pitchFamily="18" charset="0"/>
              <a:sym typeface="+mn-ea"/>
            </a:endParaRPr>
          </a:p>
          <a:p>
            <a:pPr marL="629285">
              <a:lnSpc>
                <a:spcPct val="200000"/>
              </a:lnSpc>
              <a:spcAft>
                <a:spcPts val="140"/>
              </a:spcAft>
              <a:buClr>
                <a:schemeClr val="tx1"/>
              </a:buClr>
              <a:buFont typeface="Arial" panose="020B0604020202020204" pitchFamily="34" charset="0"/>
              <a:buChar char="•"/>
            </a:pPr>
            <a:r>
              <a:rPr lang="en-IN" sz="1800">
                <a:solidFill>
                  <a:srgbClr val="000000"/>
                </a:solidFill>
                <a:effectLst/>
                <a:latin typeface="Times New Roman" panose="02020603050405020304" pitchFamily="18" charset="0"/>
                <a:ea typeface="Times New Roman" panose="02020603050405020304" pitchFamily="18" charset="0"/>
              </a:rPr>
              <a:t>Adaptive Learning</a:t>
            </a:r>
            <a:endParaRPr lang="en-IN" altLang="en-US" sz="1800">
              <a:solidFill>
                <a:schemeClr val="tx1"/>
              </a:solidFill>
              <a:effectLst/>
              <a:latin typeface="Times New Roman" panose="02020603050405020304" pitchFamily="18" charset="0"/>
              <a:cs typeface="Times New Roman" panose="02020603050405020304" pitchFamily="18" charset="0"/>
              <a:sym typeface="+mn-ea"/>
            </a:endParaRPr>
          </a:p>
          <a:p>
            <a:pPr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 Box 4"/>
          <p:cNvSpPr txBox="1"/>
          <p:nvPr/>
        </p:nvSpPr>
        <p:spPr>
          <a:xfrm>
            <a:off x="2286000" y="111442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
        <p:nvSpPr>
          <p:cNvPr id="6" name="Text Box 5"/>
          <p:cNvSpPr txBox="1"/>
          <p:nvPr/>
        </p:nvSpPr>
        <p:spPr>
          <a:xfrm flipV="1">
            <a:off x="405539" y="4629437"/>
            <a:ext cx="2631440" cy="564515"/>
          </a:xfrm>
          <a:prstGeom prst="rect">
            <a:avLst/>
          </a:prstGeom>
          <a:noFill/>
        </p:spPr>
        <p:txBody>
          <a:bodyPr wrap="square" rtlCol="0">
            <a:noAutofit/>
          </a:bodyPr>
          <a:lstStyle/>
          <a:p>
            <a:endParaRPr lang="en-US"/>
          </a:p>
        </p:txBody>
      </p:sp>
      <p:sp>
        <p:nvSpPr>
          <p:cNvPr id="8" name="Rectangle 2">
            <a:extLst>
              <a:ext uri="{FF2B5EF4-FFF2-40B4-BE49-F238E27FC236}">
                <a16:creationId xmlns:a16="http://schemas.microsoft.com/office/drawing/2014/main" id="{4638AED6-A3F8-566C-47A5-5DBFF695D327}"/>
              </a:ext>
            </a:extLst>
          </p:cNvPr>
          <p:cNvSpPr>
            <a:spLocks noChangeArrowheads="1"/>
          </p:cNvSpPr>
          <p:nvPr/>
        </p:nvSpPr>
        <p:spPr bwMode="auto">
          <a:xfrm>
            <a:off x="196646" y="1908559"/>
            <a:ext cx="83377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7630"/>
            <a:ext cx="6347460" cy="884555"/>
          </a:xfrm>
        </p:spPr>
        <p:txBody>
          <a:bodyPr>
            <a:normAutofit/>
          </a:bodyPr>
          <a:lstStyle/>
          <a:p>
            <a:pPr algn="ctr"/>
            <a:r>
              <a:rPr lang="en-IN" sz="3200" dirty="0">
                <a:solidFill>
                  <a:srgbClr val="FF0000"/>
                </a:solidFill>
                <a:latin typeface="Times New Roman" panose="02020603050405020304" pitchFamily="18" charset="0"/>
                <a:cs typeface="Times New Roman" panose="02020603050405020304" pitchFamily="18" charset="0"/>
              </a:rPr>
              <a:t>REQUIREMENTS</a:t>
            </a:r>
          </a:p>
        </p:txBody>
      </p:sp>
      <p:sp>
        <p:nvSpPr>
          <p:cNvPr id="3" name="Content Placeholder 2"/>
          <p:cNvSpPr>
            <a:spLocks noGrp="1"/>
          </p:cNvSpPr>
          <p:nvPr>
            <p:ph idx="1"/>
          </p:nvPr>
        </p:nvSpPr>
        <p:spPr>
          <a:xfrm>
            <a:off x="154305" y="718820"/>
            <a:ext cx="8836025" cy="5396845"/>
          </a:xfrm>
        </p:spPr>
        <p:txBody>
          <a:bodyPr>
            <a:noAutofit/>
          </a:bodyPr>
          <a:lstStyle/>
          <a:p>
            <a:pPr marL="0" indent="0" algn="just">
              <a:lnSpc>
                <a:spcPct val="100000"/>
              </a:lnSpc>
              <a:spcBef>
                <a:spcPts val="1440"/>
              </a:spcBef>
              <a:buClr>
                <a:srgbClr val="000000"/>
              </a:buClr>
              <a:buFont typeface="Arial" panose="020B0604020202020204" pitchFamily="34" charset="0"/>
              <a:buNone/>
            </a:pPr>
            <a:r>
              <a:rPr lang="en-IN" sz="2000" b="1" spc="5" dirty="0">
                <a:solidFill>
                  <a:schemeClr val="tx1"/>
                </a:solidFill>
                <a:latin typeface="Times New Roman" panose="02020603050405020304" pitchFamily="18" charset="0"/>
                <a:cs typeface="Times New Roman" panose="02020603050405020304" pitchFamily="18" charset="0"/>
                <a:sym typeface="+mn-ea"/>
              </a:rPr>
              <a:t>Hardware</a:t>
            </a:r>
            <a:r>
              <a:rPr lang="en-IN" sz="2000" b="1" spc="-60" dirty="0">
                <a:solidFill>
                  <a:schemeClr val="tx1"/>
                </a:solidFill>
                <a:latin typeface="Times New Roman" panose="02020603050405020304" pitchFamily="18" charset="0"/>
                <a:cs typeface="Times New Roman" panose="02020603050405020304" pitchFamily="18" charset="0"/>
                <a:sym typeface="+mn-ea"/>
              </a:rPr>
              <a:t> </a:t>
            </a:r>
            <a:r>
              <a:rPr lang="en-IN" sz="2000" b="1" dirty="0">
                <a:solidFill>
                  <a:schemeClr val="tx1"/>
                </a:solidFill>
                <a:latin typeface="Times New Roman" panose="02020603050405020304" pitchFamily="18" charset="0"/>
                <a:cs typeface="Times New Roman" panose="02020603050405020304" pitchFamily="18" charset="0"/>
                <a:sym typeface="+mn-ea"/>
              </a:rPr>
              <a:t>Configuration</a:t>
            </a:r>
            <a:endParaRPr lang="en-IN" sz="2000" b="1"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000" spc="-25" dirty="0">
                <a:solidFill>
                  <a:schemeClr val="tx1"/>
                </a:solidFill>
                <a:latin typeface="Times New Roman" panose="02020603050405020304" pitchFamily="18" charset="0"/>
                <a:cs typeface="Times New Roman" panose="02020603050405020304" pitchFamily="18" charset="0"/>
                <a:sym typeface="+mn-ea"/>
              </a:rPr>
              <a:t> </a:t>
            </a:r>
            <a:r>
              <a:rPr lang="en-US" sz="2000" dirty="0">
                <a:solidFill>
                  <a:schemeClr val="tx1"/>
                </a:solidFill>
                <a:latin typeface="Times New Roman" panose="02020603050405020304" pitchFamily="18" charset="0"/>
                <a:cs typeface="Times New Roman" panose="02020603050405020304" pitchFamily="18" charset="0"/>
              </a:rPr>
              <a:t>System: Intel I5.</a:t>
            </a:r>
          </a:p>
          <a:p>
            <a:pPr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Hard Disk: 120 GB.</a:t>
            </a:r>
          </a:p>
          <a:p>
            <a:pPr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Monitor: 15’’ LED</a:t>
            </a:r>
          </a:p>
          <a:p>
            <a:pPr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Input Devices: Keyboard, Mouse</a:t>
            </a:r>
          </a:p>
          <a:p>
            <a:pPr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Ram: 8 GB</a:t>
            </a:r>
          </a:p>
          <a:p>
            <a:pPr algn="just">
              <a:buClr>
                <a:schemeClr val="tx1"/>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Software Configuration</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Operating System: Windows 64-bit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Technology: </a:t>
            </a:r>
            <a:r>
              <a:rPr lang="en-US" sz="2000">
                <a:latin typeface="Times New Roman" panose="02020603050405020304" pitchFamily="18" charset="0"/>
                <a:cs typeface="Times New Roman" panose="02020603050405020304" pitchFamily="18" charset="0"/>
              </a:rPr>
              <a:t>Python 3.6</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 VS-Code</a:t>
            </a:r>
          </a:p>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Tools:</a:t>
            </a:r>
            <a:r>
              <a:rPr lang="en-US" sz="18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Anaconda</a:t>
            </a:r>
            <a:endParaRPr lang="en-IN" sz="2000" dirty="0">
              <a:solidFill>
                <a:schemeClr val="tx1"/>
              </a:solidFill>
              <a:latin typeface="Times New Roman" panose="02020603050405020304" pitchFamily="18" charset="0"/>
              <a:cs typeface="Times New Roman" panose="02020603050405020304" pitchFamily="18" charset="0"/>
            </a:endParaRPr>
          </a:p>
          <a:p>
            <a:pPr algn="just">
              <a:lnSpc>
                <a:spcPct val="100000"/>
              </a:lnSpc>
              <a:buClr>
                <a:srgbClr val="000000"/>
              </a:buClr>
              <a:buFont typeface="Arial" panose="020B0604020202020204" pitchFamily="34" charset="0"/>
              <a:buChar char="•"/>
            </a:pPr>
            <a:endParaRPr lang="en-IN" altLang="en-US" dirty="0">
              <a:solidFill>
                <a:schemeClr val="tx1"/>
              </a:solidFill>
              <a:effectLst/>
              <a:latin typeface="Times New Roman" panose="02020603050405020304" pitchFamily="18" charset="0"/>
              <a:cs typeface="Times New Roman" panose="02020603050405020304" pitchFamily="18" charset="0"/>
              <a:sym typeface="+mn-ea"/>
            </a:endParaRPr>
          </a:p>
        </p:txBody>
      </p:sp>
      <p:sp>
        <p:nvSpPr>
          <p:cNvPr id="4" name="Footer Placeholder 3"/>
          <p:cNvSpPr>
            <a:spLocks noGrp="1"/>
          </p:cNvSpPr>
          <p:nvPr>
            <p:ph type="ftr" sz="quarter" idx="11"/>
          </p:nvPr>
        </p:nvSpPr>
        <p:spPr>
          <a:xfrm>
            <a:off x="609599" y="6298482"/>
            <a:ext cx="7568486" cy="365125"/>
          </a:xfrm>
        </p:spPr>
        <p:txBody>
          <a:bodyPr/>
          <a:lstStyle/>
          <a:p>
            <a:r>
              <a:rPr lang="en-IN" sz="1200" b="1" dirty="0">
                <a:solidFill>
                  <a:srgbClr val="0000FF"/>
                </a:solidFill>
                <a:latin typeface="Times New Roman" panose="02020603050405020304" pitchFamily="18" charset="0"/>
                <a:cs typeface="Times New Roman" panose="02020603050405020304" pitchFamily="18" charset="0"/>
              </a:rPr>
              <a:t>Dept. of ISE, </a:t>
            </a:r>
            <a:r>
              <a:rPr lang="en-IN" sz="1200" b="1">
                <a:solidFill>
                  <a:srgbClr val="0000FF"/>
                </a:solidFill>
                <a:latin typeface="Times New Roman" panose="02020603050405020304" pitchFamily="18" charset="0"/>
                <a:cs typeface="Times New Roman" panose="02020603050405020304" pitchFamily="18" charset="0"/>
              </a:rPr>
              <a:t>RRCE                                                                                                                                            2024 - 2025</a:t>
            </a:r>
            <a:endParaRPr lang="en-US" sz="1200" b="1" dirty="0">
              <a:solidFill>
                <a:srgbClr val="0000FF"/>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2286000" y="1114425"/>
            <a:ext cx="4572000" cy="398780"/>
          </a:xfrm>
          <a:prstGeom prst="rect">
            <a:avLst/>
          </a:prstGeom>
          <a:noFill/>
        </p:spPr>
        <p:txBody>
          <a:bodyPr wrap="square" rtlCol="0" anchor="t">
            <a:spAutoFit/>
          </a:bodyPr>
          <a:lstStyle/>
          <a:p>
            <a:endParaRPr lang="en-US" sz="2000">
              <a:latin typeface="Times New Roman" panose="02020603050405020304" pitchFamily="18" charset="0"/>
              <a:cs typeface="Times New Roman" panose="02020603050405020304" pitchFamily="18" charset="0"/>
              <a:sym typeface="+mn-ea"/>
            </a:endParaRPr>
          </a:p>
        </p:txBody>
      </p:sp>
      <p:sp>
        <p:nvSpPr>
          <p:cNvPr id="6" name="Text Box 5"/>
          <p:cNvSpPr txBox="1"/>
          <p:nvPr/>
        </p:nvSpPr>
        <p:spPr>
          <a:xfrm flipV="1">
            <a:off x="494030" y="4599940"/>
            <a:ext cx="2631440" cy="564515"/>
          </a:xfrm>
          <a:prstGeom prst="rect">
            <a:avLst/>
          </a:prstGeom>
          <a:noFill/>
        </p:spPr>
        <p:txBody>
          <a:bodyPr wrap="square" rtlCol="0">
            <a:noAutofit/>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65D39-CF60-F1E5-05EA-F26334AB5EF8}"/>
              </a:ext>
            </a:extLst>
          </p:cNvPr>
          <p:cNvSpPr>
            <a:spLocks noGrp="1"/>
          </p:cNvSpPr>
          <p:nvPr>
            <p:ph type="title"/>
          </p:nvPr>
        </p:nvSpPr>
        <p:spPr>
          <a:xfrm>
            <a:off x="609599" y="0"/>
            <a:ext cx="6347714" cy="831386"/>
          </a:xfrm>
        </p:spPr>
        <p:txBody>
          <a:bodyPr>
            <a:normAutofit fontScale="90000"/>
          </a:bodyPr>
          <a:lstStyle/>
          <a:p>
            <a:r>
              <a:rPr lang="en-US" dirty="0"/>
              <a:t>SNAPSHOTS</a:t>
            </a:r>
            <a:br>
              <a:rPr lang="en-US" dirty="0"/>
            </a:br>
            <a:br>
              <a:rPr lang="en-US" dirty="0"/>
            </a:br>
            <a:br>
              <a:rPr lang="en-US" dirty="0"/>
            </a:br>
            <a:endParaRPr lang="en-IN" dirty="0"/>
          </a:p>
        </p:txBody>
      </p:sp>
      <p:sp>
        <p:nvSpPr>
          <p:cNvPr id="3" name="Footer Placeholder 2">
            <a:extLst>
              <a:ext uri="{FF2B5EF4-FFF2-40B4-BE49-F238E27FC236}">
                <a16:creationId xmlns:a16="http://schemas.microsoft.com/office/drawing/2014/main" id="{6A973F5C-914E-FD05-BE19-94382DB7EC8F}"/>
              </a:ext>
            </a:extLst>
          </p:cNvPr>
          <p:cNvSpPr>
            <a:spLocks noGrp="1"/>
          </p:cNvSpPr>
          <p:nvPr>
            <p:ph type="ftr" sz="quarter" idx="11"/>
          </p:nvPr>
        </p:nvSpPr>
        <p:spPr/>
        <p:txBody>
          <a:bodyPr/>
          <a:lstStyle/>
          <a:p>
            <a:r>
              <a:rPr lang="en-IN" dirty="0"/>
              <a:t>Dept. of ISE, RRCE                                                                                                                                                     2019-20</a:t>
            </a:r>
            <a:endParaRPr lang="en-US" dirty="0"/>
          </a:p>
        </p:txBody>
      </p:sp>
      <p:sp>
        <p:nvSpPr>
          <p:cNvPr id="5" name="TextBox 4">
            <a:extLst>
              <a:ext uri="{FF2B5EF4-FFF2-40B4-BE49-F238E27FC236}">
                <a16:creationId xmlns:a16="http://schemas.microsoft.com/office/drawing/2014/main" id="{633835D7-2487-08A7-2982-06BABFB93DBB}"/>
              </a:ext>
            </a:extLst>
          </p:cNvPr>
          <p:cNvSpPr txBox="1"/>
          <p:nvPr/>
        </p:nvSpPr>
        <p:spPr>
          <a:xfrm>
            <a:off x="924231" y="5358581"/>
            <a:ext cx="7610169" cy="369332"/>
          </a:xfrm>
          <a:prstGeom prst="rect">
            <a:avLst/>
          </a:prstGeom>
          <a:noFill/>
        </p:spPr>
        <p:txBody>
          <a:bodyPr wrap="square" rtlCol="0">
            <a:spAutoFit/>
          </a:bodyPr>
          <a:lstStyle/>
          <a:p>
            <a:pPr algn="ctr"/>
            <a:r>
              <a:rPr lang="en-US" dirty="0"/>
              <a:t>FIG 1:  HOME PAGE</a:t>
            </a:r>
            <a:endParaRPr lang="en-IN" dirty="0"/>
          </a:p>
        </p:txBody>
      </p:sp>
      <p:pic>
        <p:nvPicPr>
          <p:cNvPr id="7" name="Picture 6">
            <a:extLst>
              <a:ext uri="{FF2B5EF4-FFF2-40B4-BE49-F238E27FC236}">
                <a16:creationId xmlns:a16="http://schemas.microsoft.com/office/drawing/2014/main" id="{4A8BB9D8-AC1F-B5EB-C119-6AE740CD3B78}"/>
              </a:ext>
            </a:extLst>
          </p:cNvPr>
          <p:cNvPicPr>
            <a:picLocks noChangeAspect="1"/>
          </p:cNvPicPr>
          <p:nvPr/>
        </p:nvPicPr>
        <p:blipFill>
          <a:blip r:embed="rId2"/>
          <a:stretch>
            <a:fillRect/>
          </a:stretch>
        </p:blipFill>
        <p:spPr>
          <a:xfrm>
            <a:off x="924231" y="915567"/>
            <a:ext cx="7610169" cy="3828866"/>
          </a:xfrm>
          <a:prstGeom prst="rect">
            <a:avLst/>
          </a:prstGeom>
        </p:spPr>
      </p:pic>
    </p:spTree>
    <p:extLst>
      <p:ext uri="{BB962C8B-B14F-4D97-AF65-F5344CB8AC3E}">
        <p14:creationId xmlns:p14="http://schemas.microsoft.com/office/powerpoint/2010/main" val="2303729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C5A9C9-9B9A-EE19-A691-B309E0752369}"/>
              </a:ext>
            </a:extLst>
          </p:cNvPr>
          <p:cNvSpPr>
            <a:spLocks noGrp="1"/>
          </p:cNvSpPr>
          <p:nvPr>
            <p:ph type="ftr" sz="quarter" idx="11"/>
          </p:nvPr>
        </p:nvSpPr>
        <p:spPr/>
        <p:txBody>
          <a:bodyPr/>
          <a:lstStyle/>
          <a:p>
            <a:r>
              <a:rPr lang="en-IN"/>
              <a:t>Dept. of ISE, RRCE                                                                                                                                                     2019-20</a:t>
            </a:r>
            <a:endParaRPr lang="en-US" dirty="0"/>
          </a:p>
        </p:txBody>
      </p:sp>
      <p:pic>
        <p:nvPicPr>
          <p:cNvPr id="5" name="Picture 4">
            <a:extLst>
              <a:ext uri="{FF2B5EF4-FFF2-40B4-BE49-F238E27FC236}">
                <a16:creationId xmlns:a16="http://schemas.microsoft.com/office/drawing/2014/main" id="{CA6788CD-BEE2-7195-2A90-8ECD25224FA1}"/>
              </a:ext>
            </a:extLst>
          </p:cNvPr>
          <p:cNvPicPr>
            <a:picLocks noChangeAspect="1"/>
          </p:cNvPicPr>
          <p:nvPr/>
        </p:nvPicPr>
        <p:blipFill>
          <a:blip r:embed="rId2"/>
          <a:srcRect/>
          <a:stretch/>
        </p:blipFill>
        <p:spPr>
          <a:xfrm>
            <a:off x="462117" y="975522"/>
            <a:ext cx="7718324" cy="3517382"/>
          </a:xfrm>
          <a:prstGeom prst="rect">
            <a:avLst/>
          </a:prstGeom>
        </p:spPr>
      </p:pic>
    </p:spTree>
    <p:extLst>
      <p:ext uri="{BB962C8B-B14F-4D97-AF65-F5344CB8AC3E}">
        <p14:creationId xmlns:p14="http://schemas.microsoft.com/office/powerpoint/2010/main" val="757366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620F2D-C080-977C-C55F-9A12344D1165}"/>
              </a:ext>
            </a:extLst>
          </p:cNvPr>
          <p:cNvSpPr>
            <a:spLocks noGrp="1"/>
          </p:cNvSpPr>
          <p:nvPr>
            <p:ph type="ftr" sz="quarter" idx="11"/>
          </p:nvPr>
        </p:nvSpPr>
        <p:spPr/>
        <p:txBody>
          <a:bodyPr/>
          <a:lstStyle/>
          <a:p>
            <a:r>
              <a:rPr lang="en-IN"/>
              <a:t>Dept. of ISE, RRCE                                                                                                                                                     2019-20</a:t>
            </a:r>
            <a:endParaRPr lang="en-US" dirty="0"/>
          </a:p>
        </p:txBody>
      </p:sp>
      <p:pic>
        <p:nvPicPr>
          <p:cNvPr id="3" name="Picture 2">
            <a:extLst>
              <a:ext uri="{FF2B5EF4-FFF2-40B4-BE49-F238E27FC236}">
                <a16:creationId xmlns:a16="http://schemas.microsoft.com/office/drawing/2014/main" id="{19098B3A-80E3-3365-CBA4-372F4B7C8B9D}"/>
              </a:ext>
            </a:extLst>
          </p:cNvPr>
          <p:cNvPicPr>
            <a:picLocks noChangeAspect="1"/>
          </p:cNvPicPr>
          <p:nvPr/>
        </p:nvPicPr>
        <p:blipFill>
          <a:blip r:embed="rId2"/>
          <a:srcRect/>
          <a:stretch/>
        </p:blipFill>
        <p:spPr>
          <a:xfrm>
            <a:off x="584238" y="614798"/>
            <a:ext cx="7975524" cy="4160892"/>
          </a:xfrm>
          <a:prstGeom prst="rect">
            <a:avLst/>
          </a:prstGeom>
        </p:spPr>
      </p:pic>
      <p:sp>
        <p:nvSpPr>
          <p:cNvPr id="4" name="TextBox 3">
            <a:extLst>
              <a:ext uri="{FF2B5EF4-FFF2-40B4-BE49-F238E27FC236}">
                <a16:creationId xmlns:a16="http://schemas.microsoft.com/office/drawing/2014/main" id="{99054CB8-39B1-9B03-19B6-B57B0E219A36}"/>
              </a:ext>
            </a:extLst>
          </p:cNvPr>
          <p:cNvSpPr txBox="1"/>
          <p:nvPr/>
        </p:nvSpPr>
        <p:spPr>
          <a:xfrm>
            <a:off x="943897" y="5555226"/>
            <a:ext cx="7787148" cy="369332"/>
          </a:xfrm>
          <a:prstGeom prst="rect">
            <a:avLst/>
          </a:prstGeom>
          <a:noFill/>
        </p:spPr>
        <p:txBody>
          <a:bodyPr wrap="square" rtlCol="0">
            <a:spAutoFit/>
          </a:bodyPr>
          <a:lstStyle/>
          <a:p>
            <a:pPr algn="ctr"/>
            <a:r>
              <a:rPr lang="en-US" dirty="0"/>
              <a:t>FIG 3: STATISTICS SUMMARY</a:t>
            </a:r>
            <a:endParaRPr lang="en-IN" dirty="0"/>
          </a:p>
        </p:txBody>
      </p:sp>
    </p:spTree>
    <p:extLst>
      <p:ext uri="{BB962C8B-B14F-4D97-AF65-F5344CB8AC3E}">
        <p14:creationId xmlns:p14="http://schemas.microsoft.com/office/powerpoint/2010/main" val="1217575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C54DFEC-9602-3190-DE55-1598BDE50F3B}"/>
              </a:ext>
            </a:extLst>
          </p:cNvPr>
          <p:cNvSpPr>
            <a:spLocks noGrp="1"/>
          </p:cNvSpPr>
          <p:nvPr>
            <p:ph type="ftr" sz="quarter" idx="11"/>
          </p:nvPr>
        </p:nvSpPr>
        <p:spPr/>
        <p:txBody>
          <a:bodyPr/>
          <a:lstStyle/>
          <a:p>
            <a:r>
              <a:rPr lang="en-IN"/>
              <a:t>Dept. of ISE, RRCE                                                                                                                                                     2019-20</a:t>
            </a:r>
            <a:endParaRPr lang="en-US" dirty="0"/>
          </a:p>
        </p:txBody>
      </p:sp>
      <p:pic>
        <p:nvPicPr>
          <p:cNvPr id="3" name="Picture 2">
            <a:extLst>
              <a:ext uri="{FF2B5EF4-FFF2-40B4-BE49-F238E27FC236}">
                <a16:creationId xmlns:a16="http://schemas.microsoft.com/office/drawing/2014/main" id="{453D65CF-6C2A-14AC-1B56-FE5FA47446D9}"/>
              </a:ext>
            </a:extLst>
          </p:cNvPr>
          <p:cNvPicPr>
            <a:picLocks noChangeAspect="1"/>
          </p:cNvPicPr>
          <p:nvPr/>
        </p:nvPicPr>
        <p:blipFill>
          <a:blip r:embed="rId2"/>
          <a:srcRect/>
          <a:stretch/>
        </p:blipFill>
        <p:spPr>
          <a:xfrm>
            <a:off x="937576" y="843506"/>
            <a:ext cx="7268848" cy="3700907"/>
          </a:xfrm>
          <a:prstGeom prst="rect">
            <a:avLst/>
          </a:prstGeom>
        </p:spPr>
      </p:pic>
    </p:spTree>
    <p:extLst>
      <p:ext uri="{BB962C8B-B14F-4D97-AF65-F5344CB8AC3E}">
        <p14:creationId xmlns:p14="http://schemas.microsoft.com/office/powerpoint/2010/main" val="2850626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F9EF6A-8B5E-6322-1101-7B9537D7CDA2}"/>
              </a:ext>
            </a:extLst>
          </p:cNvPr>
          <p:cNvSpPr>
            <a:spLocks noGrp="1"/>
          </p:cNvSpPr>
          <p:nvPr>
            <p:ph type="ftr" sz="quarter" idx="11"/>
          </p:nvPr>
        </p:nvSpPr>
        <p:spPr/>
        <p:txBody>
          <a:bodyPr/>
          <a:lstStyle/>
          <a:p>
            <a:r>
              <a:rPr lang="en-IN"/>
              <a:t>Dept. of ISE, RRCE                                                                                                                                                     2019-20</a:t>
            </a:r>
            <a:endParaRPr lang="en-US" dirty="0"/>
          </a:p>
        </p:txBody>
      </p:sp>
      <p:pic>
        <p:nvPicPr>
          <p:cNvPr id="3" name="Picture 2">
            <a:extLst>
              <a:ext uri="{FF2B5EF4-FFF2-40B4-BE49-F238E27FC236}">
                <a16:creationId xmlns:a16="http://schemas.microsoft.com/office/drawing/2014/main" id="{538B2AA8-E4B8-E3A1-48D4-637BA09FD36D}"/>
              </a:ext>
            </a:extLst>
          </p:cNvPr>
          <p:cNvPicPr>
            <a:picLocks noChangeAspect="1"/>
          </p:cNvPicPr>
          <p:nvPr/>
        </p:nvPicPr>
        <p:blipFill>
          <a:blip r:embed="rId3"/>
          <a:srcRect/>
          <a:stretch/>
        </p:blipFill>
        <p:spPr>
          <a:xfrm>
            <a:off x="501444" y="1076687"/>
            <a:ext cx="7954299" cy="3480510"/>
          </a:xfrm>
          <a:prstGeom prst="rect">
            <a:avLst/>
          </a:prstGeom>
        </p:spPr>
      </p:pic>
    </p:spTree>
    <p:extLst>
      <p:ext uri="{BB962C8B-B14F-4D97-AF65-F5344CB8AC3E}">
        <p14:creationId xmlns:p14="http://schemas.microsoft.com/office/powerpoint/2010/main" val="2175309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1D55B5-F5BC-A1D0-4F98-6C617D3F1CDC}"/>
              </a:ext>
            </a:extLst>
          </p:cNvPr>
          <p:cNvSpPr>
            <a:spLocks noGrp="1"/>
          </p:cNvSpPr>
          <p:nvPr>
            <p:ph type="title"/>
          </p:nvPr>
        </p:nvSpPr>
        <p:spPr>
          <a:xfrm>
            <a:off x="678425" y="224503"/>
            <a:ext cx="6347714" cy="1320800"/>
          </a:xfrm>
        </p:spPr>
        <p:txBody>
          <a:bodyPr/>
          <a:lstStyle/>
          <a:p>
            <a:pPr algn="ctr"/>
            <a:r>
              <a:rPr lang="en-US" dirty="0">
                <a:solidFill>
                  <a:srgbClr val="FF0000"/>
                </a:solidFill>
              </a:rPr>
              <a:t>CONCLUSION</a:t>
            </a:r>
            <a:endParaRPr lang="en-IN" dirty="0">
              <a:solidFill>
                <a:srgbClr val="FF0000"/>
              </a:solidFill>
            </a:endParaRPr>
          </a:p>
        </p:txBody>
      </p:sp>
      <p:sp>
        <p:nvSpPr>
          <p:cNvPr id="2" name="Footer Placeholder 1">
            <a:extLst>
              <a:ext uri="{FF2B5EF4-FFF2-40B4-BE49-F238E27FC236}">
                <a16:creationId xmlns:a16="http://schemas.microsoft.com/office/drawing/2014/main" id="{693405B3-067D-7CBD-0D9A-B92CA1AB54E6}"/>
              </a:ext>
            </a:extLst>
          </p:cNvPr>
          <p:cNvSpPr>
            <a:spLocks noGrp="1"/>
          </p:cNvSpPr>
          <p:nvPr>
            <p:ph type="ftr" sz="quarter" idx="11"/>
          </p:nvPr>
        </p:nvSpPr>
        <p:spPr/>
        <p:txBody>
          <a:bodyPr/>
          <a:lstStyle/>
          <a:p>
            <a:r>
              <a:rPr lang="en-IN"/>
              <a:t>Dept. of ISE, RRCE                                                                                                                                                     2019-20</a:t>
            </a:r>
            <a:endParaRPr lang="en-US" dirty="0"/>
          </a:p>
        </p:txBody>
      </p:sp>
      <p:sp>
        <p:nvSpPr>
          <p:cNvPr id="3" name="TextBox 2">
            <a:extLst>
              <a:ext uri="{FF2B5EF4-FFF2-40B4-BE49-F238E27FC236}">
                <a16:creationId xmlns:a16="http://schemas.microsoft.com/office/drawing/2014/main" id="{CD3B72B0-C730-54B7-BD1C-A2F46912F789}"/>
              </a:ext>
            </a:extLst>
          </p:cNvPr>
          <p:cNvSpPr txBox="1"/>
          <p:nvPr/>
        </p:nvSpPr>
        <p:spPr>
          <a:xfrm>
            <a:off x="412955" y="884903"/>
            <a:ext cx="8268929" cy="5028556"/>
          </a:xfrm>
          <a:prstGeom prst="rect">
            <a:avLst/>
          </a:prstGeom>
          <a:noFill/>
        </p:spPr>
        <p:txBody>
          <a:bodyPr wrap="square" rtlCol="0">
            <a:spAutoFit/>
          </a:bodyPr>
          <a:lstStyle/>
          <a:p>
            <a:pPr algn="just">
              <a:lnSpc>
                <a:spcPct val="150000"/>
              </a:lnSpc>
            </a:pPr>
            <a:r>
              <a:rPr lang="en-IN" sz="1800">
                <a:solidFill>
                  <a:srgbClr val="000000"/>
                </a:solidFill>
                <a:effectLst/>
                <a:latin typeface="Times New Roman" panose="02020603050405020304" pitchFamily="18" charset="0"/>
                <a:ea typeface="Times New Roman" panose="02020603050405020304" pitchFamily="18" charset="0"/>
              </a:rPr>
              <a:t>Distributed denial of service attacks (DDoS) has the potential to disable essential online services and prevent Users from accessing them. DDoS attack tools are of worry to the defense community for two reasons: (1) they are cheap or even free and easy to find online, and (2) hackers frequently employ them because they can be deployed with little in the way of technological expertise. </a:t>
            </a:r>
          </a:p>
          <a:p>
            <a:pPr algn="just">
              <a:lnSpc>
                <a:spcPct val="150000"/>
              </a:lnSpc>
            </a:pPr>
            <a:r>
              <a:rPr lang="en-IN" sz="1800">
                <a:solidFill>
                  <a:srgbClr val="000000"/>
                </a:solidFill>
                <a:effectLst/>
                <a:latin typeface="Times New Roman" panose="02020603050405020304" pitchFamily="18" charset="0"/>
                <a:ea typeface="Times New Roman" panose="02020603050405020304" pitchFamily="18" charset="0"/>
              </a:rPr>
              <a:t>According to our research, ML can be utilized to successfully classify DDoS tools into a total of five different categories; four of these classes pertain to DDoS tool attacks, and the remaining class contains innocuous data. By establishing a fast and reliable technique for selecting the features, we were able to cut the total number of options available in our model from 78 to 6. Our model has a high level of performance across the board, with a 99.2% accuracy, 97.1% precision, 96.1% recall, and 96.6% F1 score when using Adam as the optimizer. </a:t>
            </a:r>
            <a:r>
              <a:rPr lang="en-IN" sz="180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05408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014F2-270D-19F2-D009-962C6651647E}"/>
              </a:ext>
            </a:extLst>
          </p:cNvPr>
          <p:cNvSpPr>
            <a:spLocks noGrp="1"/>
          </p:cNvSpPr>
          <p:nvPr>
            <p:ph type="title"/>
          </p:nvPr>
        </p:nvSpPr>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186C7EC4-4A02-A831-D72B-9A54B45F882C}"/>
              </a:ext>
            </a:extLst>
          </p:cNvPr>
          <p:cNvSpPr>
            <a:spLocks noGrp="1"/>
          </p:cNvSpPr>
          <p:nvPr>
            <p:ph idx="1"/>
          </p:nvPr>
        </p:nvSpPr>
        <p:spPr>
          <a:xfrm>
            <a:off x="673507" y="1517074"/>
            <a:ext cx="7649499" cy="4524290"/>
          </a:xfrm>
        </p:spPr>
        <p:txBody>
          <a:bodyPr>
            <a:normAutofit fontScale="92500" lnSpcReduction="10000"/>
          </a:bodyPr>
          <a:lstStyle/>
          <a:p>
            <a:pPr marL="0" indent="0" algn="just">
              <a:lnSpc>
                <a:spcPct val="110000"/>
              </a:lnSpc>
              <a:buClr>
                <a:srgbClr val="55C5FF"/>
              </a:buClr>
              <a:buNone/>
              <a:tabLst>
                <a:tab pos="498475" algn="l"/>
                <a:tab pos="499109" algn="l"/>
              </a:tabLst>
            </a:pPr>
            <a:r>
              <a:rPr lang="en-IN">
                <a:latin typeface="Times New Roman" panose="02020603050405020304" pitchFamily="18" charset="0"/>
                <a:cs typeface="Times New Roman" panose="02020603050405020304" pitchFamily="18" charset="0"/>
              </a:rPr>
              <a:t>[</a:t>
            </a:r>
            <a:r>
              <a:rPr lang="en-IN" sz="1800" b="1" spc="10">
                <a:latin typeface="Times New Roman" panose="02020603050405020304" pitchFamily="18" charset="0"/>
                <a:cs typeface="Times New Roman" panose="02020603050405020304" pitchFamily="18" charset="0"/>
              </a:rPr>
              <a:t>1] </a:t>
            </a:r>
            <a:r>
              <a:rPr lang="en-IN" sz="1800" spc="10">
                <a:latin typeface="Times New Roman" panose="02020603050405020304" pitchFamily="18" charset="0"/>
                <a:cs typeface="Times New Roman" panose="02020603050405020304" pitchFamily="18" charset="0"/>
              </a:rPr>
              <a:t>B. B. Gupta, P. Chaudhary, X. Chang, and N. Nedjah, ‘‘Smart defense against distributed denial of service attack in IoT networks using supervised learning classifiers,’’ Comput. Electr. Eng., vol. 98, Mar. 2022, Art. no. 107726.</a:t>
            </a:r>
          </a:p>
          <a:p>
            <a:pPr marL="0" indent="0" algn="just">
              <a:lnSpc>
                <a:spcPct val="110000"/>
              </a:lnSpc>
              <a:buClr>
                <a:srgbClr val="55C5FF"/>
              </a:buClr>
              <a:buNone/>
              <a:tabLst>
                <a:tab pos="498475" algn="l"/>
                <a:tab pos="499109" algn="l"/>
              </a:tabLst>
            </a:pPr>
            <a:r>
              <a:rPr lang="en-IN" sz="1800" b="1" spc="10">
                <a:latin typeface="Times New Roman" panose="02020603050405020304" pitchFamily="18" charset="0"/>
                <a:cs typeface="Times New Roman" panose="02020603050405020304" pitchFamily="18" charset="0"/>
              </a:rPr>
              <a:t>[2] </a:t>
            </a:r>
            <a:r>
              <a:rPr lang="en-IN" sz="1800" spc="10">
                <a:latin typeface="Times New Roman" panose="02020603050405020304" pitchFamily="18" charset="0"/>
                <a:cs typeface="Times New Roman" panose="02020603050405020304" pitchFamily="18" charset="0"/>
              </a:rPr>
              <a:t>H. Beitollahi and G. Deconinck, ‘‘An overlay protection layer against denial-of-service attacks,’’ in Proc. IEEE Int. Symp. Parallel Distrib. Process., Apr. 2008, pp. 1–8</a:t>
            </a:r>
          </a:p>
          <a:p>
            <a:pPr marL="0" indent="0" algn="just">
              <a:lnSpc>
                <a:spcPct val="110000"/>
              </a:lnSpc>
              <a:buClr>
                <a:srgbClr val="55C5FF"/>
              </a:buClr>
              <a:buNone/>
              <a:tabLst>
                <a:tab pos="498475" algn="l"/>
                <a:tab pos="499109" algn="l"/>
              </a:tabLst>
            </a:pPr>
            <a:r>
              <a:rPr lang="en-IN" sz="1800" b="1" spc="10">
                <a:latin typeface="Times New Roman" panose="02020603050405020304" pitchFamily="18" charset="0"/>
                <a:cs typeface="Times New Roman" panose="02020603050405020304" pitchFamily="18" charset="0"/>
              </a:rPr>
              <a:t>[3] </a:t>
            </a:r>
            <a:r>
              <a:rPr lang="en-IN" sz="1800" spc="10">
                <a:latin typeface="Times New Roman" panose="02020603050405020304" pitchFamily="18" charset="0"/>
                <a:cs typeface="Times New Roman" panose="02020603050405020304" pitchFamily="18" charset="0"/>
              </a:rPr>
              <a:t>O. Yoachimik, ‘‘DDoS attack trends for 2022 Q1,’’ Cloudflare, CA, USA, Tech. Rep., Apr. 2022.</a:t>
            </a:r>
          </a:p>
          <a:p>
            <a:pPr marL="0" indent="0" algn="just">
              <a:lnSpc>
                <a:spcPct val="110000"/>
              </a:lnSpc>
              <a:buClr>
                <a:srgbClr val="55C5FF"/>
              </a:buClr>
              <a:buNone/>
              <a:tabLst>
                <a:tab pos="498475" algn="l"/>
                <a:tab pos="499109" algn="l"/>
              </a:tabLst>
            </a:pPr>
            <a:r>
              <a:rPr lang="en-IN" sz="1800" b="1" spc="10">
                <a:latin typeface="Times New Roman" panose="02020603050405020304" pitchFamily="18" charset="0"/>
                <a:cs typeface="Times New Roman" panose="02020603050405020304" pitchFamily="18" charset="0"/>
              </a:rPr>
              <a:t>[4] </a:t>
            </a:r>
            <a:r>
              <a:rPr lang="en-IN" sz="1800" spc="10">
                <a:latin typeface="Times New Roman" panose="02020603050405020304" pitchFamily="18" charset="0"/>
                <a:cs typeface="Times New Roman" panose="02020603050405020304" pitchFamily="18" charset="0"/>
              </a:rPr>
              <a:t>T. Shorey, D. Subbaiah, A. Goyal, A. Sakxena, and A. K. Mishra, ‘‘Performance comparison and analysis of Slowloris, GoldenEye and Xerxes DDoS attack tools,’’ in Proc. Int. Conf. Adv. Comput., Commun. Informat. (ICACCI), Sep. 2018, pp. 318–322.</a:t>
            </a:r>
          </a:p>
          <a:p>
            <a:pPr marL="0" indent="0" algn="just">
              <a:lnSpc>
                <a:spcPct val="110000"/>
              </a:lnSpc>
              <a:buClr>
                <a:srgbClr val="55C5FF"/>
              </a:buClr>
              <a:buNone/>
              <a:tabLst>
                <a:tab pos="498475" algn="l"/>
                <a:tab pos="499109" algn="l"/>
              </a:tabLst>
            </a:pPr>
            <a:r>
              <a:rPr lang="en-IN" sz="1800" b="1" spc="10">
                <a:latin typeface="Times New Roman" panose="02020603050405020304" pitchFamily="18" charset="0"/>
                <a:cs typeface="Times New Roman" panose="02020603050405020304" pitchFamily="18" charset="0"/>
              </a:rPr>
              <a:t>[5] </a:t>
            </a:r>
            <a:r>
              <a:rPr lang="en-IN" sz="1800" spc="10">
                <a:latin typeface="Times New Roman" panose="02020603050405020304" pitchFamily="18" charset="0"/>
                <a:cs typeface="Times New Roman" panose="02020603050405020304" pitchFamily="18" charset="0"/>
              </a:rPr>
              <a:t>L. F. Eliyan and R. Di Pietro, ‘‘DoS and DDoS attacks in software defined networks: A survey of existing solutions and research challenges,’’ Future Gener. Comput. Syst., vol. 122, pp. 149–171, Sep. 2021.</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2EC9C7C-B3E8-4103-EEB4-A5BC3ED5F1AD}"/>
              </a:ext>
            </a:extLst>
          </p:cNvPr>
          <p:cNvSpPr>
            <a:spLocks noGrp="1"/>
          </p:cNvSpPr>
          <p:nvPr>
            <p:ph type="ftr" sz="quarter" idx="11"/>
          </p:nvPr>
        </p:nvSpPr>
        <p:spPr>
          <a:xfrm>
            <a:off x="609598" y="6248400"/>
            <a:ext cx="7777318" cy="365125"/>
          </a:xfrm>
        </p:spPr>
        <p:txBody>
          <a:bodyPr/>
          <a:lstStyle/>
          <a:p>
            <a:r>
              <a:rPr lang="en-IN" sz="900" b="1" dirty="0">
                <a:solidFill>
                  <a:srgbClr val="0000FF"/>
                </a:solidFill>
                <a:latin typeface="Times New Roman" panose="02020603050405020304" pitchFamily="18" charset="0"/>
                <a:cs typeface="Times New Roman" panose="02020603050405020304" pitchFamily="18" charset="0"/>
              </a:rPr>
              <a:t>Dept. of ISE, RRCE                                                                                                                                            					2024 - 2025</a:t>
            </a:r>
            <a:endParaRPr lang="en-US" sz="9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65484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404</TotalTime>
  <Words>1863</Words>
  <Application>Microsoft Office PowerPoint</Application>
  <PresentationFormat>On-screen Show (4:3)</PresentationFormat>
  <Paragraphs>205</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Courier New</vt:lpstr>
      <vt:lpstr>Times New Roman</vt:lpstr>
      <vt:lpstr>Trebuchet MS</vt:lpstr>
      <vt:lpstr>Wingdings</vt:lpstr>
      <vt:lpstr>Wingdings 3</vt:lpstr>
      <vt:lpstr>Facet</vt:lpstr>
      <vt:lpstr>VISVESVARAYA TECHNOLOGICAL UNIVERSITY “Jnana Sangama”, Belagavi-590018</vt:lpstr>
      <vt:lpstr>CONTENTS</vt:lpstr>
      <vt:lpstr>PowerPoint Presentation</vt:lpstr>
      <vt:lpstr>ABSTRACT</vt:lpstr>
      <vt:lpstr>        INTRODUCTION</vt:lpstr>
      <vt:lpstr>  LITERATURE SURVEY</vt:lpstr>
      <vt:lpstr>PROBLEM STATEMENT</vt:lpstr>
      <vt:lpstr>OBJECTIVES</vt:lpstr>
      <vt:lpstr>PowerPoint Presentation</vt:lpstr>
      <vt:lpstr>METHODOLOGY</vt:lpstr>
      <vt:lpstr>ALGORITMS</vt:lpstr>
      <vt:lpstr>PowerPoint Presentation</vt:lpstr>
      <vt:lpstr>PowerPoint Presentation</vt:lpstr>
      <vt:lpstr>APPLICATIONS</vt:lpstr>
      <vt:lpstr>REQUIREMENTS</vt:lpstr>
      <vt:lpstr>SNAPSHOTS   </vt:lpstr>
      <vt:lpstr>PowerPoint Presentation</vt:lpstr>
      <vt:lpstr>PowerPoint Presentation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VISVESVARAYA TECHNOLOGICAL UNIVERSITY            “Jnana Sangama”, Belagavi-590018</dc:title>
  <dc:creator>kgireeshr@hotmail.com</dc:creator>
  <cp:lastModifiedBy>Sudeep P</cp:lastModifiedBy>
  <cp:revision>246</cp:revision>
  <dcterms:created xsi:type="dcterms:W3CDTF">2018-09-29T12:57:00Z</dcterms:created>
  <dcterms:modified xsi:type="dcterms:W3CDTF">2025-02-07T05:59:00Z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7DEA3D83156B40A1B411E4C23157FCB9_12</vt:lpwstr>
  </property>
  <property fmtid="{D5CDD505-2E9C-101B-9397-08002B2CF9AE}" pid="3" name="KSOProductBuildVer">
    <vt:lpwstr>1033-12.2.0.16909</vt:lpwstr>
  </property>
</Properties>
</file>